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8109cc7a-8717-e00c-6b84-707c1df06d59}">
          <p14:sldIdLst>
            <p14:sldId id="256"/>
            <p14:sldId id="257"/>
          </p14:sldIdLst>
        </p14:section>
        <p14:section name="Problema" id="{4224649c-2298-a757-2989-231e0e5aff04}">
          <p14:sldIdLst>
            <p14:sldId id="258"/>
            <p14:sldId id="259"/>
          </p14:sldIdLst>
        </p14:section>
        <p14:section name="Gestión del conocimiento" id="{f3181c93-13a5-3a00-a0a6-5edcafa52fe3}">
          <p14:sldIdLst>
            <p14:sldId id="260"/>
          </p14:sldIdLst>
        </p14:section>
        <p14:section name="Solución" id="{abc5a28d-ad27-2e70-7cf8-f0f131c9923b}">
          <p14:sldIdLst>
            <p14:sldId id="261"/>
            <p14:sldId id="262"/>
          </p14:sldIdLst>
        </p14:section>
        <p14:section name="Modelos matemáticos" id="{9df90419-5ece-9f3b-fd51-6f466b304844}">
          <p14:sldIdLst>
            <p14:sldId id="263"/>
            <p14:sldId id="264"/>
          </p14:sldIdLst>
        </p14:section>
        <p14:section name="Resultados" id="{25c448ab-e0ac-f22e-7c46-8aff881a9b94}">
          <p14:sldIdLst>
            <p14:sldId id="265"/>
            <p14:sldId id="266"/>
            <p14:sldId id="267"/>
          </p14:sldIdLst>
        </p14:section>
        <p14:section name="Cierre" id="{a0997018-4ff5-e80e-0f96-b795e8a9a7ff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+mn-lt"/>
              </a:rPr>
              <a:t>Ejemplo: 100 und, vende 20/día, llega pedido de 100 el jueves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Inventario</c:v>
                </c:pt>
              </c:strCache>
            </c:strRef>
          </c:tx>
          <c:spPr>
            <a:solidFill>
              <a:srgbClr val="1B2430"/>
            </a:solidFill>
            <a:ln w="31750" cap="flat">
              <a:solidFill>
                <a:srgbClr val="1B24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2430"/>
              </a:solidFill>
              <a:ln w="9525" cap="flat">
                <a:solidFill>
                  <a:srgbClr val="1B24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Mié</c:v>
                  </c:pt>
                  <c:pt idx="3">
                    <c:v>Jue</c:v>
                  </c:pt>
                  <c:pt idx="4">
                    <c:v>Vie</c:v>
                  </c:pt>
                  <c:pt idx="5">
                    <c:v>Sáb</c:v>
                  </c:pt>
                  <c:pt idx="6">
                    <c:v>Dom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140</c:v>
                </c:pt>
                <c:pt idx="4">
                  <c:v>115</c:v>
                </c:pt>
                <c:pt idx="5">
                  <c:v>90</c:v>
                </c:pt>
                <c:pt idx="6">
                  <c:v>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4748B"/>
                </a:solidFill>
                <a:latin typeface="+mn-lt"/>
              </a:rPr>
              <a:t>Días de inventario restantes (escenario de demostración)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Días de cobertura</c:v>
                </c:pt>
              </c:strCache>
            </c:strRef>
          </c:tx>
          <c:spPr>
            <a:solidFill>
              <a:srgbClr val="D6283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283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283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6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6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Mantequilla 250g</c:v>
                  </c:pt>
                  <c:pt idx="1">
                    <c:v>Yogur fresa 200ml</c:v>
                  </c:pt>
                  <c:pt idx="2">
                    <c:v>Leche deslact. 1L</c:v>
                  </c:pt>
                  <c:pt idx="3">
                    <c:v>Queso d. crema 500g</c:v>
                  </c:pt>
                  <c:pt idx="4">
                    <c:v>Leche caja 1L</c:v>
                  </c:pt>
                  <c:pt idx="5">
                    <c:v>Leche bolsa 1L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4</c:v>
                </c:pt>
                <c:pt idx="3">
                  <c:v>5.5</c:v>
                </c:pt>
                <c:pt idx="4">
                  <c:v>12</c:v>
                </c:pt>
                <c:pt idx="5">
                  <c:v>12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4748B"/>
                </a:solidFill>
                <a:latin typeface="+mn-lt"/>
              </a:rPr>
              <a:t>Cumplimiento simulado por proveedor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Cumplimiento</c:v>
                </c:pt>
              </c:strCache>
            </c:strRef>
          </c:tx>
          <c:spPr>
            <a:solidFill>
              <a:srgbClr val="2A9D6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283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Latti</c:v>
                  </c:pt>
                  <c:pt idx="1">
                    <c:v>Alpina</c:v>
                  </c:pt>
                  <c:pt idx="2">
                    <c:v>Colanta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88</c:v>
                </c:pt>
                <c:pt idx="2">
                  <c:v>72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título y a los integrantes. Frase gancho: "En una tienda, el producto que no está en el estante es una venta perdida. SIGA-D1 avisa antes de que eso pase."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agenda en 20 segundos. Los colores de los números son los del semáforo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con un ejemplo cotidiano: llega el cliente por leche y no hay. Nadie sabía que se iba a acabar porque nadie hizo la cuenta. Además se pedían 100 cajas y llegaban 70 y nadie lo medía.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el objetivo general completo y los cuatro específicos con un verbo cada uno: registrar, modelar, alertar, evaluar.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SECI de Nonaka y Takeuchi. Tácito a explícito: lo que el encargado "sabe" se vuelve dato registrado y luego indicador. Esto es el corazón del curso de gestión del conocimiento.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capas. Destacar que la lógica matemática está separada (carpeta domain) y por eso se puede probar sin levantar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hay demo en vivo, este es el momento: entrar como admin, registrar una salida y mostrar cómo cambia el semáforo.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Explicarlo como una cuenta bancaria: el saldo de mañana es el de hoy más lo que entra menos lo que sale. Nunca puede quedar en negativo. En el ejemplo: 100, vendo 20 diarios, el jueves llegan 100 y sube a 140.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Ritmo = cuánto se vende por día. Cobertura = para cuántos días me alcanza. Como un tanque de gasolina: si gasto 20 por día y tengo 50, me alcanza para 2,5 días. Los umbrales 3 y 7 son configurables.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prueba del seed: 6 lácteos de 3 proveedores. Mantequilla: 18 en stock y vende 9 al día → 2 días, rojo. Leche bolsa: 540 y vende 45 → 12 días, verde. Aclarar que son datos simulados para demostrar 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una nota de examen sobre 100: no puedes sacar 150. Si en un pedido entregaron de más y en otro de menos, lo de más no tapa lo que faltó. 150 de 100 y 50 de 100 es 75 %, no 100 %.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madurez: encontramos errores en nuestras propias fórmulas, los corregimos y escribimos pruebas para que no vuelvan.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conectando con la pregunta problema: sí es posible convertir movimientos diarios en conocimiento accionable.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conocemos los límites del modelo y cómo evolucionaría.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y abrir preguntas. Ver la sección de preguntas probables en el guion.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430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" y="54864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54864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1430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Stock que Avisa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</a:rPr>
              <a:t>SIGA-D1: inteligencia de inventario que anticipa el quiebre y mide a cada proveedor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Jostein Alexander Farfán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Andrés Felipe Bello González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Proyectos de Gestión del Conocimiento ·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325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Problema y objetivos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325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Gestión del conocimiento aplicada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468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Solución y arquitectura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514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468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Modelos matemáticos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611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Resultados y calidad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657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3611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Conclusiones y trabajo futuro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El problema: decidir a ciegas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Quiebres de stock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El faltante se descubre cuando el estante ya está vacío: venta perdida y cliente insatisfecho.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Proveedores sin medir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40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hay un dato objetivo de cuánto entrega cada proveedor frente a lo que se le pidió.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28016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Conocimiento tácito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40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El "olfato" del encargado no queda registrado; si se va, el conocimiento se va con él.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1"/>
                </a:solidFill>
              </a:rPr>
              <a:t>Pregunta problema: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¿Cómo convertir los movimientos diarios de inventario en conocimiento que permita anticipar quiebres y evaluar a los proveedores?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Objetivos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B4BB"/>
                </a:solidFill>
              </a:rPr>
              <a:t>General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Desarrollar un sistema web que, a partir de las entradas y salidas registradas por el personal, estime los días de inventario restantes por producto y la confiabilidad de cada proveedor.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Registrar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91840"/>
            <a:ext cx="1691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Centralizar movimientos de entrada y salida con usuarios y roles.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Modelar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291840"/>
            <a:ext cx="1691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Aplicar el modelo de acumulación y flujos para reconstruir el inventario.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Alertar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291840"/>
            <a:ext cx="1691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Clasificar cada producto en semáforo según su cobertura en días.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66560" y="2286000"/>
            <a:ext cx="1920240" cy="21945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2377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Evaluar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291840"/>
            <a:ext cx="1691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Calcular el % de cumplimiento de cada proveedor y su historial.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Del olfato al dato: ciclo SECI en SIGA-D1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13716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Socialización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El personal comparte su experiencia sobre qué se vende y cuándo.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50008" y="2377440"/>
            <a:ext cx="210312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118872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6976" y="1371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3697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Externalización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15768" y="24231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Cada venta y cada entrega se registra como un movimiento.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71416" y="2377440"/>
            <a:ext cx="210312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18872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58384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5838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91456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Combinación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4231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El sistema cruza movimientos y calcula ritmo, cobertura y cumplimiento.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92824" y="2377440"/>
            <a:ext cx="210312" cy="27432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21424" y="1188720"/>
            <a:ext cx="1874520" cy="265176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979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20116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Internalización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58584" y="242316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Las alertas guían la decisión de pedir y con qué proveedor.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Resultado: el conocimiento deja de depender de una persona y queda en un activo organizacional consultable.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Arquitectura de la solución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261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React · Vite · Tailwind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402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Panel, alertas, catálogo, movimientos, confiabilidad y usuarios.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44952" y="2103120"/>
            <a:ext cx="228600" cy="274320"/>
          </a:xfrm>
          <a:prstGeom prst="left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801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1261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Node.js · Express · Zod · JWT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2402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API REST por capas: rutas → controladores → servicios → dominio.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79592" y="2103120"/>
            <a:ext cx="228600" cy="274320"/>
          </a:xfrm>
          <a:prstGeom prst="left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801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261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Datos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PostgreSQL · Prisma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24028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Usuarios, productos, proveedores, movimientos e historial de cumplimiento.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B4BB"/>
                </a:solidFill>
              </a:rPr>
              <a:t>Núcleo de dominio puro 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</a:rPr>
              <a:t>Las fórmulas viven en funciones sin base de datos: se prueban de forma aislada y el resultado es reproducible. Despliegue en Render con Blueprint.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Módulos funcionales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52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Acceso y roles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Login con JWT; administrador y empleado.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280160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1252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Catálogo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83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Productos y proveedores con validación.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252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Movimientos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783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Entradas y salidas; el stock nunca queda negativo.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29900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Semáforo rojo, amarillo y verde por cobertura.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28346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0175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29900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Confiabilidad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% de cumplimiento e historial por proveedor.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834640"/>
            <a:ext cx="26060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017520"/>
            <a:ext cx="384048" cy="38404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20840" y="299008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Evolución del inventario y resumen de riesgo.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Modelo 1 · Acumulación y flujos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I(t+1) = máx(0, I(t) + R(t) − V(t))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I(t)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  inventario al cierre del día 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R(t)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  reposición: entradas del proveedor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V(t)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  ventas: salidas registradas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máx(0, …)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  el inventario nunca es negativo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754880" y="1051560"/>
          <a:ext cx="40233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75488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El sistema reconstruye esta curva hacia atrás desde el stock actual.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Modelo 2 · Ritmo de venta y cobertura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75488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15568"/>
            <a:ext cx="4480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Ritmo = unidades de las últimas 5 salidas ÷ días desde la más antigua hasta hoy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75488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075688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(días) = Stock ÷ Ritmo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Ejemplo: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 vendieron 60 unidades en 3 días → ritmo 20/día. Con 50 en stock: 50 ÷ 20 = 2,5 días → 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ROJO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94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Días en hora de Colombia · un producto que deja de venderse sale del riesgo.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109728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2801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2618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ROJO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≤ 3 días · Pedir 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06440" y="228600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267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AMARILLO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3 a 7 días · Pedir pronto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06440" y="329184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273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VERDE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&gt; 7 días · Sin acción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Resultado: cobertura por producto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0972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0972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109728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 ROJO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22402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22402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24028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 AMARILLO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3383280"/>
            <a:ext cx="24688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3383280"/>
            <a:ext cx="822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338328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 VERDE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Modelo 3 · Confiabilidad del proveedor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15568"/>
            <a:ext cx="4389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= Σ mín(entregado, pedido) ÷ Σ pedido × 100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(tope)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28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→ 75 %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Lo que sobra en un pedido no compensa lo que faltó en otro.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303520" y="1005840"/>
          <a:ext cx="3474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Calidad: cifras del proyecto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pruebas unitarias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100 % aprobadas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143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errores corregidos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en fórmulas y concurrencia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143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modelos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matemáticos en el dominio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143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≈5.000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líneas de código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backend + frontend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Ritmo dividido entre movimientos y no entre días: 5 ventas en un día daban 5 días de cobertura en vez de 1.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Excedentes que inflaban el cumplimiento hasta 100 %; ahora cada entrega tiene tope en lo pedido.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Dos ventas simultáneas podían dejar stock negativo; ahora el descuento es una operación atómica.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984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88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Anticipar en vez de reaccionar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54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La cobertura en días convierte el inventario en una fecha de quiebre estimada.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4144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31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Decisiones con evidencia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97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El % de cumplimiento da un criterio objetivo para negociar con proveedores.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584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4747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Conocimiento que permanece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8404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Lo que sabía el encargado queda registrado, calculado y disponible para todos.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Trabajo futuro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2527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Punto de reorden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Sugerir cuánto y cuándo pedir: ROP = ritmo × tiempo de entrega + stock de seguridad.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8016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49240" y="12527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Tiempo de entrega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8308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Medir los días que tarda cada proveedor y sumarlo al cálculo de riesgo.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2944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Pronóstico estacional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Detectar picos de quincena y fin de semana con promedio móvil ponderado.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9443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Puntualidad (OTIF)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474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Evaluar al proveedor por cantidad y también por entregar a tiempo.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5072" y="82296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25696" y="82296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6320" y="822960"/>
            <a:ext cx="292608" cy="29260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¿Preguntas?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</a:rPr>
              <a:t>Gracias · Stock que Avisa · SIGA-D1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Jostein Alexander Farfán · Andrés Felipe Bello González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A Semaforo">
  <a:themeElements>
    <a:clrScheme name="SIGA Semaforo">
      <a:dk1>
        <a:srgbClr val="1B2430"/>
      </a:dk1>
      <a:lt1>
        <a:srgbClr val="FFFFFF"/>
      </a:lt1>
      <a:dk2>
        <a:srgbClr val="334155"/>
      </a:dk2>
      <a:lt2>
        <a:srgbClr val="F1F4F8"/>
      </a:lt2>
      <a:accent1>
        <a:srgbClr val="D62839"/>
      </a:accent1>
      <a:accent2>
        <a:srgbClr val="2A9D6F"/>
      </a:accent2>
      <a:accent3>
        <a:srgbClr val="E9A23B"/>
      </a:accent3>
      <a:accent4>
        <a:srgbClr val="1B2430"/>
      </a:accent4>
      <a:accent5>
        <a:srgbClr val="64748B"/>
      </a:accent5>
      <a:accent6>
        <a:srgbClr val="0E7C86"/>
      </a:accent6>
      <a:hlink>
        <a:srgbClr val="0E7C86"/>
      </a:hlink>
      <a:folHlink>
        <a:srgbClr val="64748B"/>
      </a:folHlink>
    </a:clrScheme>
    <a:fontScheme name="SIGA Semafo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que Avisa - SIGA-D1</dc:title>
  <dc:subject>PptxGenJS Presentation</dc:subject>
  <dc:creator>Jostein Alexander Farfán; Andrés Felipe Bello González</dc:creator>
  <cp:lastModifiedBy>Jostein Alexander Farfán; Andrés Felipe Bello González</cp:lastModifiedBy>
  <cp:revision>1</cp:revision>
  <dcterms:created xsi:type="dcterms:W3CDTF">2026-10-14T20:53:33Z</dcterms:created>
  <dcterms:modified xsi:type="dcterms:W3CDTF">2026-10-14T20:53:33Z</dcterms:modified>
</cp:coreProperties>
</file>