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Helvetica Bold" charset="1" panose="020B0704020202030204"/>
      <p:regular r:id="rId17"/>
    </p:embeddedFont>
    <p:embeddedFont>
      <p:font typeface="Helvetica" charset="1" panose="020B0504020202020204"/>
      <p:regular r:id="rId18"/>
    </p:embeddedFont>
    <p:embeddedFont>
      <p:font typeface="Georgia" charset="1" panose="020405020504050203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CO" dirty="0"/>
              <a:t>JOSTEIN abre (30 s): "Buenos días. Somos Jostein Alexander Farfán y Andrés Felipe Bello González. Presentamos Stock que Avisa, SIGA-D1."</a:t>
            </a:r>
          </a:p>
          <a:p>
            <a:r>
              <a:rPr lang="es-CO" dirty="0"/>
              <a:t>Gancho: "En una tienda, el producto que no está en el estante es una venta perdida. SIGA-D1 avisa antes de que eso pase."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CO" dirty="0"/>
              <a:t>JOSTEIN (2,5 min).</a:t>
            </a:r>
          </a:p>
          <a:p>
            <a:r>
              <a:rPr lang="es-CO" dirty="0"/>
              <a:t>Introducción: la tienda registra lo que vende y lo que le llega; SIGA-D1 convierte eso en dos respuestas: ¿cuántos días me quedan de cada producto? y ¿qué proveedor me cumple?</a:t>
            </a:r>
          </a:p>
          <a:p>
            <a:r>
              <a:rPr lang="es-CO" dirty="0"/>
              <a:t>Problema: ejemplo de la leche: llega el cliente y no hay. Nadie hizo la cuenta. Se pidieron 100 cajas y llegaron 70 y nadie lo anotó.</a:t>
            </a:r>
          </a:p>
          <a:p>
            <a:r>
              <a:rPr lang="es-CO" dirty="0"/>
              <a:t>Justificación: el conocimiento del encargado es tácito; el sistema lo vuelve explícito.</a:t>
            </a:r>
          </a:p>
          <a:p>
            <a:r>
              <a:rPr lang="es-CO" dirty="0"/>
              <a:t>Objetivos: leer el general y los cuatro verbos: registrar, modelar, alertar, evaluar.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CO" dirty="0"/>
              <a:t>ANDRÉS (3 min) · DEMO EN VIVO.</a:t>
            </a:r>
          </a:p>
          <a:p>
            <a:r>
              <a:rPr lang="es-CO" dirty="0"/>
              <a:t>1) Entrar como administrador. 2) Mostrar el semáforo en Alertas. 3) Registrar una salida grande de un producto en amarillo y mostrar que pasa a rojo. 4) Registrar una entrada con cantidad pedida mayor a la entregada y mostrar que baja el % del proveedor. 5) Mostrar la gráfica del dashboard.</a:t>
            </a:r>
          </a:p>
          <a:p>
            <a:r>
              <a:rPr lang="es-CO" dirty="0"/>
              <a:t>Si falla internet: usar capturas de pantalla preparadas.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CO" dirty="0"/>
              <a:t>JOSTEIN (2 min).</a:t>
            </a:r>
          </a:p>
          <a:p>
            <a:r>
              <a:rPr lang="es-CO" dirty="0"/>
              <a:t>SECI: lo que el encargado sabe (tácito) se vuelve registro (explícito), el sistema lo combina en indicadores y la alerta se vuelve decisión (internalización).</a:t>
            </a:r>
          </a:p>
          <a:p>
            <a:r>
              <a:rPr lang="es-CO" dirty="0"/>
              <a:t>DIKW: un movimiento suelto es un dato; el stock es información; los días de cobertura son conocimiento; pedir a tiempo es la decisión.</a:t>
            </a:r>
          </a:p>
          <a:p>
            <a:r>
              <a:rPr lang="es-CO" dirty="0"/>
              <a:t>Acumulación y flujos: el inventario es un tanque que se llena con entregas y se vacía con ventas.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CO" dirty="0"/>
              <a:t>ANDRÉS (2,5 min). Seguridad vale el doble: dedicarle más tiempo.</a:t>
            </a:r>
          </a:p>
          <a:p>
            <a:r>
              <a:rPr lang="es-CO" dirty="0"/>
              <a:t>Seguridad: el empleado solo registra movimientos; productos, proveedores y usuarios son del administrador. Contraseñas nunca en texto plano. Límite de intentos de login contra fuerza bruta.</a:t>
            </a:r>
          </a:p>
          <a:p>
            <a:r>
              <a:rPr lang="es-CO" dirty="0"/>
              <a:t>Atomicidad: dos ventas al mismo tiempo no pueden dejar el stock en negativo.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CO" dirty="0"/>
              <a:t>ANDRÉS (2 min).</a:t>
            </a:r>
          </a:p>
          <a:p>
            <a:r>
              <a:rPr lang="es-CO" dirty="0"/>
              <a:t>Recalcar que la información no la escribe nadie a mano: sale de los movimientos reales y se recalcula sola.</a:t>
            </a:r>
          </a:p>
          <a:p>
            <a:r>
              <a:rPr lang="es-CO" dirty="0"/>
              <a:t>Ejemplo de corrección: antes el ritmo se dividía entre el número de ventas y no entre días; 5 ventas el mismo día daban 5 días de cobertura cuando era 1. Lo detectamos, lo corregimos y lo cubrimos con pruebas.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CO" dirty="0"/>
              <a:t>AMBOS (1,5 min). Jostein lee la coherencia con los objetivos; Andrés los aportes.</a:t>
            </a:r>
          </a:p>
          <a:p>
            <a:r>
              <a:rPr lang="es-CO" dirty="0"/>
              <a:t>Cierre: "Respondiendo la pregunta guía: sí es posible convertir los movimientos diarios en conocimiento útil para decidir. Gracias, quedamos atentos a sus preguntas."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CO" dirty="0"/>
              <a:t>Lista de verificación para el ensayo. Se puede ocultar durante la sustentación (clic derecho → Ocultar diapositiva) o dejarla como cierre.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0" y="-418670"/>
            <a:ext cx="18241027" cy="15727680"/>
          </a:xfrm>
          <a:custGeom>
            <a:avLst/>
            <a:gdLst/>
            <a:ahLst/>
            <a:cxnLst/>
            <a:rect r="r" b="b" t="t" l="l"/>
            <a:pathLst>
              <a:path h="15727680" w="18241027">
                <a:moveTo>
                  <a:pt x="0" y="15727680"/>
                </a:moveTo>
                <a:lnTo>
                  <a:pt x="18241027" y="15727680"/>
                </a:lnTo>
                <a:lnTo>
                  <a:pt x="18241027" y="0"/>
                </a:lnTo>
                <a:lnTo>
                  <a:pt x="0" y="0"/>
                </a:lnTo>
                <a:lnTo>
                  <a:pt x="0" y="15727680"/>
                </a:lnTo>
                <a:close/>
              </a:path>
            </a:pathLst>
          </a:custGeom>
          <a:blipFill>
            <a:blip r:embed="rId3">
              <a:alphaModFix amt="48000"/>
            </a:blip>
            <a:stretch>
              <a:fillRect l="0" t="0" r="-257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390646" y="7901283"/>
            <a:ext cx="15868648" cy="19110"/>
          </a:xfrm>
          <a:prstGeom prst="line">
            <a:avLst/>
          </a:prstGeom>
          <a:ln cap="rnd" w="9525">
            <a:solidFill>
              <a:srgbClr val="E9A36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3966224" y="470922"/>
            <a:ext cx="3293076" cy="3320519"/>
          </a:xfrm>
          <a:custGeom>
            <a:avLst/>
            <a:gdLst/>
            <a:ahLst/>
            <a:cxnLst/>
            <a:rect r="r" b="b" t="t" l="l"/>
            <a:pathLst>
              <a:path h="3320519" w="3293076">
                <a:moveTo>
                  <a:pt x="0" y="0"/>
                </a:moveTo>
                <a:lnTo>
                  <a:pt x="3293076" y="0"/>
                </a:lnTo>
                <a:lnTo>
                  <a:pt x="3293076" y="3320519"/>
                </a:lnTo>
                <a:lnTo>
                  <a:pt x="0" y="33205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444988" y="4095816"/>
            <a:ext cx="2335548" cy="3496330"/>
          </a:xfrm>
          <a:custGeom>
            <a:avLst/>
            <a:gdLst/>
            <a:ahLst/>
            <a:cxnLst/>
            <a:rect r="r" b="b" t="t" l="l"/>
            <a:pathLst>
              <a:path h="3496330" w="2335548">
                <a:moveTo>
                  <a:pt x="0" y="0"/>
                </a:moveTo>
                <a:lnTo>
                  <a:pt x="2335548" y="0"/>
                </a:lnTo>
                <a:lnTo>
                  <a:pt x="2335548" y="3496330"/>
                </a:lnTo>
                <a:lnTo>
                  <a:pt x="0" y="34963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09671" y="565364"/>
            <a:ext cx="822227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399">
                <a:solidFill>
                  <a:srgbClr val="DAAA00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INGENIERÍA DE SISTEMAS Y COMPUTACIÓN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09671" y="8414385"/>
            <a:ext cx="8560977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F5F2EA"/>
                </a:solidFill>
                <a:latin typeface="Helvetica"/>
                <a:ea typeface="Helvetica"/>
                <a:cs typeface="Helvetica"/>
                <a:sym typeface="Helvetica"/>
              </a:rPr>
              <a:t>Sustentación de proyectos de Gestión del Conocimiento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09671" y="6222026"/>
            <a:ext cx="11698262" cy="960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8"/>
              </a:lnSpc>
              <a:spcAft>
                <a:spcPts val="500"/>
              </a:spcAft>
            </a:pPr>
            <a:r>
              <a:rPr lang="en-US" sz="2400">
                <a:solidFill>
                  <a:srgbClr val="D8D4C8"/>
                </a:solidFill>
                <a:latin typeface="Helvetica"/>
                <a:ea typeface="Helvetica"/>
                <a:cs typeface="Helvetica"/>
                <a:sym typeface="Helvetica"/>
              </a:rPr>
              <a:t>Sistema de información web que convierte las ventas y entregas registradas en una tienda D1 en alertas de quiebre de stock y en un indicador de confiabilidad de proveedores.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42172" y="1659098"/>
            <a:ext cx="10464756" cy="1855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20"/>
              </a:lnSpc>
              <a:spcAft>
                <a:spcPts val="300"/>
              </a:spcAft>
            </a:pPr>
            <a:r>
              <a:rPr lang="en-US" sz="6000" strike="noStrike" u="none">
                <a:solidFill>
                  <a:srgbClr val="F5F2EA"/>
                </a:solidFill>
                <a:latin typeface="Georgia"/>
                <a:ea typeface="Georgia"/>
                <a:cs typeface="Georgia"/>
                <a:sym typeface="Georgia"/>
              </a:rPr>
              <a:t>Stock que Avisa</a:t>
            </a:r>
          </a:p>
          <a:p>
            <a:pPr algn="l">
              <a:lnSpc>
                <a:spcPts val="3660"/>
              </a:lnSpc>
              <a:spcAft>
                <a:spcPts val="300"/>
              </a:spcAft>
            </a:pPr>
            <a:r>
              <a:rPr lang="en-US" sz="3000" strike="noStrike" u="none">
                <a:solidFill>
                  <a:srgbClr val="F5F2EA"/>
                </a:solidFill>
                <a:latin typeface="Georgia"/>
                <a:ea typeface="Georgia"/>
                <a:cs typeface="Georgia"/>
                <a:sym typeface="Georgia"/>
              </a:rPr>
              <a:t>SIGA-D1: el inventario que anticipa el quiebre y mide a cada proveedor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42172" y="4248328"/>
            <a:ext cx="5232444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DAAA00"/>
                </a:solidFill>
                <a:latin typeface="Helvetica"/>
                <a:ea typeface="Helvetica"/>
                <a:cs typeface="Helvetica"/>
                <a:sym typeface="Helvetica"/>
              </a:rPr>
              <a:t>Grupo No. y estudiantes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42172" y="4612005"/>
            <a:ext cx="10464756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8"/>
              </a:lnSpc>
              <a:spcAft>
                <a:spcPts val="500"/>
              </a:spcAft>
            </a:pPr>
            <a:r>
              <a:rPr lang="en-US" sz="2400">
                <a:solidFill>
                  <a:srgbClr val="F5F2EA"/>
                </a:solidFill>
                <a:latin typeface="Helvetica"/>
                <a:ea typeface="Helvetica"/>
                <a:cs typeface="Helvetica"/>
                <a:sym typeface="Helvetica"/>
              </a:rPr>
              <a:t>Jostein Alexander Farfán · Andrés Felipe Bello González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4750431">
            <a:off x="3521066" y="-275161"/>
            <a:ext cx="18241027" cy="15727680"/>
          </a:xfrm>
          <a:custGeom>
            <a:avLst/>
            <a:gdLst/>
            <a:ahLst/>
            <a:cxnLst/>
            <a:rect r="r" b="b" t="t" l="l"/>
            <a:pathLst>
              <a:path h="15727680" w="18241027">
                <a:moveTo>
                  <a:pt x="0" y="15727680"/>
                </a:moveTo>
                <a:lnTo>
                  <a:pt x="18241028" y="15727680"/>
                </a:lnTo>
                <a:lnTo>
                  <a:pt x="18241028" y="0"/>
                </a:lnTo>
                <a:lnTo>
                  <a:pt x="0" y="0"/>
                </a:lnTo>
                <a:lnTo>
                  <a:pt x="0" y="15727680"/>
                </a:lnTo>
                <a:close/>
              </a:path>
            </a:pathLst>
          </a:custGeom>
          <a:blipFill>
            <a:blip r:embed="rId3">
              <a:alphaModFix amt="48000"/>
            </a:blip>
            <a:stretch>
              <a:fillRect l="0" t="0" r="-257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19200" y="1171575"/>
            <a:ext cx="16325088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>
                <a:solidFill>
                  <a:srgbClr val="00482B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ASPECTO 1 DE 7 · ESCALA 0.5 A 5.0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19200" y="1727835"/>
            <a:ext cx="8204240" cy="835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9"/>
              </a:lnSpc>
            </a:pPr>
            <a:r>
              <a:rPr lang="en-US" sz="5799">
                <a:solidFill>
                  <a:srgbClr val="DAAA00"/>
                </a:solidFill>
                <a:latin typeface="Georgia"/>
                <a:ea typeface="Georgia"/>
                <a:cs typeface="Georgia"/>
                <a:sym typeface="Georgia"/>
              </a:rPr>
              <a:t>Aspectos de organización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219200" y="2967990"/>
            <a:ext cx="3733800" cy="5795010"/>
            <a:chOff x="0" y="0"/>
            <a:chExt cx="4978400" cy="77266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78400" cy="7726680"/>
            </a:xfrm>
            <a:custGeom>
              <a:avLst/>
              <a:gdLst/>
              <a:ahLst/>
              <a:cxnLst/>
              <a:rect r="r" b="b" t="t" l="l"/>
              <a:pathLst>
                <a:path h="7726680" w="4978400">
                  <a:moveTo>
                    <a:pt x="0" y="197358"/>
                  </a:moveTo>
                  <a:cubicBezTo>
                    <a:pt x="0" y="88392"/>
                    <a:pt x="88392" y="0"/>
                    <a:pt x="197358" y="0"/>
                  </a:cubicBezTo>
                  <a:lnTo>
                    <a:pt x="4781042" y="0"/>
                  </a:lnTo>
                  <a:cubicBezTo>
                    <a:pt x="4890008" y="0"/>
                    <a:pt x="4978400" y="88392"/>
                    <a:pt x="4978400" y="197358"/>
                  </a:cubicBezTo>
                  <a:lnTo>
                    <a:pt x="4978400" y="7529322"/>
                  </a:lnTo>
                  <a:cubicBezTo>
                    <a:pt x="4978400" y="7638288"/>
                    <a:pt x="4890008" y="7726680"/>
                    <a:pt x="4781042" y="7726680"/>
                  </a:cubicBezTo>
                  <a:lnTo>
                    <a:pt x="197358" y="7726680"/>
                  </a:lnTo>
                  <a:cubicBezTo>
                    <a:pt x="88392" y="7726680"/>
                    <a:pt x="0" y="7638288"/>
                    <a:pt x="0" y="7529322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D6C8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607820" y="3308985"/>
            <a:ext cx="3045257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>
                <a:solidFill>
                  <a:srgbClr val="00482B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1.1 · Valor 1.0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07820" y="3827145"/>
            <a:ext cx="3045257" cy="47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DAAA00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Introducción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07820" y="4419600"/>
            <a:ext cx="2956560" cy="3954780"/>
            <a:chOff x="0" y="0"/>
            <a:chExt cx="3942080" cy="52730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942080" cy="5273040"/>
            </a:xfrm>
            <a:custGeom>
              <a:avLst/>
              <a:gdLst/>
              <a:ahLst/>
              <a:cxnLst/>
              <a:rect r="r" b="b" t="t" l="l"/>
              <a:pathLst>
                <a:path h="5273040" w="3942080">
                  <a:moveTo>
                    <a:pt x="0" y="140589"/>
                  </a:moveTo>
                  <a:cubicBezTo>
                    <a:pt x="0" y="62992"/>
                    <a:pt x="62992" y="0"/>
                    <a:pt x="140589" y="0"/>
                  </a:cubicBezTo>
                  <a:lnTo>
                    <a:pt x="3801491" y="0"/>
                  </a:lnTo>
                  <a:cubicBezTo>
                    <a:pt x="3879088" y="0"/>
                    <a:pt x="3942080" y="62992"/>
                    <a:pt x="3942080" y="140589"/>
                  </a:cubicBezTo>
                  <a:lnTo>
                    <a:pt x="3942080" y="5132451"/>
                  </a:lnTo>
                  <a:cubicBezTo>
                    <a:pt x="3942080" y="5210048"/>
                    <a:pt x="3879088" y="5273040"/>
                    <a:pt x="3801491" y="5273040"/>
                  </a:cubicBezTo>
                  <a:lnTo>
                    <a:pt x="140589" y="5273040"/>
                  </a:lnTo>
                  <a:cubicBezTo>
                    <a:pt x="62992" y="5273040"/>
                    <a:pt x="0" y="5210048"/>
                    <a:pt x="0" y="5132451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21622" t="0" r="-121622" b="0"/>
              </a:stretch>
            </a:blipFill>
            <a:ln w="19050" cap="sq">
              <a:solidFill>
                <a:srgbClr val="C9C1AE"/>
              </a:solidFill>
              <a:prstDash val="dash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3942080" cy="532066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257"/>
                </a:lnSpc>
                <a:spcAft>
                  <a:spcPts val="500"/>
                </a:spcAft>
              </a:pPr>
              <a:r>
                <a:rPr lang="en-US" sz="185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>SIGA-D1 es un sistema web de inventario para una tienda D1.</a:t>
              </a:r>
            </a:p>
            <a:p>
              <a:pPr algn="l">
                <a:lnSpc>
                  <a:spcPts val="2257"/>
                </a:lnSpc>
                <a:spcAft>
                  <a:spcPts val="500"/>
                </a:spcAft>
              </a:pPr>
              <a:r>
                <a:rPr lang="en-US" sz="185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 xml:space="preserve">Con las ventas y entregas que registra el personal calcula </a:t>
              </a:r>
              <a:r>
                <a:rPr b="1" lang="en-US" sz="1850">
                  <a:solidFill>
                    <a:srgbClr val="00482B"/>
                  </a:solidFill>
                  <a:latin typeface="Helvetica"/>
                  <a:ea typeface="Helvetica"/>
                  <a:cs typeface="Helvetica"/>
                  <a:sym typeface="Helvetica"/>
                </a:rPr>
                <a:t>cuántos días de stock quedan</a:t>
              </a:r>
              <a:r>
                <a:rPr lang="en-US" sz="185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 xml:space="preserve"> por producto y </a:t>
              </a:r>
              <a:r>
                <a:rPr b="1" lang="en-US" sz="1850">
                  <a:solidFill>
                    <a:srgbClr val="00482B"/>
                  </a:solidFill>
                  <a:latin typeface="Helvetica"/>
                  <a:ea typeface="Helvetica"/>
                  <a:cs typeface="Helvetica"/>
                  <a:sym typeface="Helvetica"/>
                </a:rPr>
                <a:t>qué tan cumplido es cada proveedor</a:t>
              </a:r>
              <a:r>
                <a:rPr lang="en-US" sz="185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>.</a:t>
              </a:r>
            </a:p>
            <a:p>
              <a:pPr algn="l">
                <a:lnSpc>
                  <a:spcPts val="2257"/>
                </a:lnSpc>
                <a:spcAft>
                  <a:spcPts val="500"/>
                </a:spcAft>
              </a:pPr>
              <a:r>
                <a:rPr lang="en-US" sz="185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>Veremos: problema, producto, teoría, tecnología y resultados.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257800" y="2967990"/>
            <a:ext cx="3733800" cy="5795010"/>
            <a:chOff x="0" y="0"/>
            <a:chExt cx="4978400" cy="77266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978400" cy="7726680"/>
            </a:xfrm>
            <a:custGeom>
              <a:avLst/>
              <a:gdLst/>
              <a:ahLst/>
              <a:cxnLst/>
              <a:rect r="r" b="b" t="t" l="l"/>
              <a:pathLst>
                <a:path h="7726680" w="4978400">
                  <a:moveTo>
                    <a:pt x="0" y="197358"/>
                  </a:moveTo>
                  <a:cubicBezTo>
                    <a:pt x="0" y="88392"/>
                    <a:pt x="88392" y="0"/>
                    <a:pt x="197358" y="0"/>
                  </a:cubicBezTo>
                  <a:lnTo>
                    <a:pt x="4781042" y="0"/>
                  </a:lnTo>
                  <a:cubicBezTo>
                    <a:pt x="4890008" y="0"/>
                    <a:pt x="4978400" y="88392"/>
                    <a:pt x="4978400" y="197358"/>
                  </a:cubicBezTo>
                  <a:lnTo>
                    <a:pt x="4978400" y="7529322"/>
                  </a:lnTo>
                  <a:cubicBezTo>
                    <a:pt x="4978400" y="7638288"/>
                    <a:pt x="4890008" y="7726680"/>
                    <a:pt x="4781042" y="7726680"/>
                  </a:cubicBezTo>
                  <a:lnTo>
                    <a:pt x="197358" y="7726680"/>
                  </a:lnTo>
                  <a:cubicBezTo>
                    <a:pt x="88392" y="7726680"/>
                    <a:pt x="0" y="7638288"/>
                    <a:pt x="0" y="7529322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D6C8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5646420" y="3308985"/>
            <a:ext cx="3045257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>
                <a:solidFill>
                  <a:srgbClr val="00482B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1.2 · Valor 1.5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646420" y="3827145"/>
            <a:ext cx="3045257" cy="88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DAAA00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Planteamiento del problema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646420" y="4831080"/>
            <a:ext cx="2956560" cy="3543300"/>
            <a:chOff x="0" y="0"/>
            <a:chExt cx="3942080" cy="4724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942080" cy="4724400"/>
            </a:xfrm>
            <a:custGeom>
              <a:avLst/>
              <a:gdLst/>
              <a:ahLst/>
              <a:cxnLst/>
              <a:rect r="r" b="b" t="t" l="l"/>
              <a:pathLst>
                <a:path h="4724400" w="3942080">
                  <a:moveTo>
                    <a:pt x="0" y="140589"/>
                  </a:moveTo>
                  <a:cubicBezTo>
                    <a:pt x="0" y="62992"/>
                    <a:pt x="62992" y="0"/>
                    <a:pt x="140589" y="0"/>
                  </a:cubicBezTo>
                  <a:lnTo>
                    <a:pt x="3801491" y="0"/>
                  </a:lnTo>
                  <a:cubicBezTo>
                    <a:pt x="3879088" y="0"/>
                    <a:pt x="3942080" y="62992"/>
                    <a:pt x="3942080" y="140589"/>
                  </a:cubicBezTo>
                  <a:lnTo>
                    <a:pt x="3942080" y="4583811"/>
                  </a:lnTo>
                  <a:cubicBezTo>
                    <a:pt x="3942080" y="4661408"/>
                    <a:pt x="3879088" y="4724400"/>
                    <a:pt x="3801491" y="4724400"/>
                  </a:cubicBezTo>
                  <a:lnTo>
                    <a:pt x="140589" y="4724400"/>
                  </a:lnTo>
                  <a:cubicBezTo>
                    <a:pt x="62992" y="4724400"/>
                    <a:pt x="0" y="4661408"/>
                    <a:pt x="0" y="4583811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03765" t="0" r="-103765" b="0"/>
              </a:stretch>
            </a:blipFill>
            <a:ln w="19050" cap="sq">
              <a:solidFill>
                <a:srgbClr val="C9C1AE"/>
              </a:solidFill>
              <a:prstDash val="dash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3942080" cy="477202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257"/>
                </a:lnSpc>
                <a:spcAft>
                  <a:spcPts val="500"/>
                </a:spcAft>
              </a:pPr>
              <a:r>
                <a:rPr lang="en-US" sz="185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>Los faltantes se descubren con el estante vacío y nadie mide si el proveedor entrega lo pedido.</a:t>
              </a:r>
            </a:p>
            <a:p>
              <a:pPr algn="l">
                <a:lnSpc>
                  <a:spcPts val="2257"/>
                </a:lnSpc>
                <a:spcAft>
                  <a:spcPts val="500"/>
                </a:spcAft>
              </a:pPr>
              <a:r>
                <a:rPr b="1" lang="en-US" sz="1850">
                  <a:solidFill>
                    <a:srgbClr val="00482B"/>
                  </a:solidFill>
                  <a:latin typeface="Helvetica"/>
                  <a:ea typeface="Helvetica"/>
                  <a:cs typeface="Helvetica"/>
                  <a:sym typeface="Helvetica"/>
                </a:rPr>
                <a:t>Afecta a:</a:t>
              </a:r>
              <a:r>
                <a:rPr lang="en-US" sz="185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 xml:space="preserve"> la tienda (ventas perdidas), el cliente y el encargado de pedidos.</a:t>
              </a:r>
            </a:p>
            <a:p>
              <a:pPr algn="l">
                <a:lnSpc>
                  <a:spcPts val="2257"/>
                </a:lnSpc>
                <a:spcAft>
                  <a:spcPts val="500"/>
                </a:spcAft>
              </a:pPr>
              <a:r>
                <a:rPr b="1" lang="en-US" sz="1850">
                  <a:solidFill>
                    <a:srgbClr val="00482B"/>
                  </a:solidFill>
                  <a:latin typeface="Helvetica"/>
                  <a:ea typeface="Helvetica"/>
                  <a:cs typeface="Helvetica"/>
                  <a:sym typeface="Helvetica"/>
                </a:rPr>
                <a:t>Pregunta guía:</a:t>
              </a:r>
              <a:r>
                <a:rPr lang="en-US" sz="185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 xml:space="preserve"> ¿cómo convertir los movimientos diarios en conocimiento para anticipar quiebres y evaluar proveedores?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296400" y="2967990"/>
            <a:ext cx="3733800" cy="5795010"/>
            <a:chOff x="0" y="0"/>
            <a:chExt cx="4978400" cy="77266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978400" cy="7726680"/>
            </a:xfrm>
            <a:custGeom>
              <a:avLst/>
              <a:gdLst/>
              <a:ahLst/>
              <a:cxnLst/>
              <a:rect r="r" b="b" t="t" l="l"/>
              <a:pathLst>
                <a:path h="7726680" w="4978400">
                  <a:moveTo>
                    <a:pt x="0" y="197358"/>
                  </a:moveTo>
                  <a:cubicBezTo>
                    <a:pt x="0" y="88392"/>
                    <a:pt x="88392" y="0"/>
                    <a:pt x="197358" y="0"/>
                  </a:cubicBezTo>
                  <a:lnTo>
                    <a:pt x="4781042" y="0"/>
                  </a:lnTo>
                  <a:cubicBezTo>
                    <a:pt x="4890008" y="0"/>
                    <a:pt x="4978400" y="88392"/>
                    <a:pt x="4978400" y="197358"/>
                  </a:cubicBezTo>
                  <a:lnTo>
                    <a:pt x="4978400" y="7529322"/>
                  </a:lnTo>
                  <a:cubicBezTo>
                    <a:pt x="4978400" y="7638288"/>
                    <a:pt x="4890008" y="7726680"/>
                    <a:pt x="4781042" y="7726680"/>
                  </a:cubicBezTo>
                  <a:lnTo>
                    <a:pt x="197358" y="7726680"/>
                  </a:lnTo>
                  <a:cubicBezTo>
                    <a:pt x="88392" y="7726680"/>
                    <a:pt x="0" y="7638288"/>
                    <a:pt x="0" y="7529322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D6C8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9685020" y="3308985"/>
            <a:ext cx="3045257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>
                <a:solidFill>
                  <a:srgbClr val="00482B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1.3 · Valor 1.0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85020" y="3827145"/>
            <a:ext cx="3045257" cy="47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DAAA00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Justificación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685020" y="4419600"/>
            <a:ext cx="2956560" cy="3954780"/>
            <a:chOff x="0" y="0"/>
            <a:chExt cx="3942080" cy="5273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942080" cy="5273040"/>
            </a:xfrm>
            <a:custGeom>
              <a:avLst/>
              <a:gdLst/>
              <a:ahLst/>
              <a:cxnLst/>
              <a:rect r="r" b="b" t="t" l="l"/>
              <a:pathLst>
                <a:path h="5273040" w="3942080">
                  <a:moveTo>
                    <a:pt x="0" y="140589"/>
                  </a:moveTo>
                  <a:cubicBezTo>
                    <a:pt x="0" y="62992"/>
                    <a:pt x="62992" y="0"/>
                    <a:pt x="140589" y="0"/>
                  </a:cubicBezTo>
                  <a:lnTo>
                    <a:pt x="3801491" y="0"/>
                  </a:lnTo>
                  <a:cubicBezTo>
                    <a:pt x="3879088" y="0"/>
                    <a:pt x="3942080" y="62992"/>
                    <a:pt x="3942080" y="140589"/>
                  </a:cubicBezTo>
                  <a:lnTo>
                    <a:pt x="3942080" y="5132451"/>
                  </a:lnTo>
                  <a:cubicBezTo>
                    <a:pt x="3942080" y="5210048"/>
                    <a:pt x="3879088" y="5273040"/>
                    <a:pt x="3801491" y="5273040"/>
                  </a:cubicBezTo>
                  <a:lnTo>
                    <a:pt x="140589" y="5273040"/>
                  </a:lnTo>
                  <a:cubicBezTo>
                    <a:pt x="62992" y="5273040"/>
                    <a:pt x="0" y="5210048"/>
                    <a:pt x="0" y="5132451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21622" t="0" r="-121622" b="0"/>
              </a:stretch>
            </a:blipFill>
            <a:ln w="19050" cap="sq">
              <a:solidFill>
                <a:srgbClr val="C9C1AE"/>
              </a:solidFill>
              <a:prstDash val="dash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3942080" cy="532066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257"/>
                </a:lnSpc>
                <a:spcAft>
                  <a:spcPts val="500"/>
                </a:spcAft>
              </a:pPr>
              <a:r>
                <a:rPr lang="en-US" sz="185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>Un quiebre de stock es una venta perdida.</a:t>
              </a:r>
            </a:p>
            <a:p>
              <a:pPr algn="l">
                <a:lnSpc>
                  <a:spcPts val="2257"/>
                </a:lnSpc>
                <a:spcAft>
                  <a:spcPts val="500"/>
                </a:spcAft>
              </a:pPr>
              <a:r>
                <a:rPr lang="en-US" sz="185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 xml:space="preserve">Lo que sabe el encargado (qué se vende, quién incumple) es </a:t>
              </a:r>
              <a:r>
                <a:rPr b="1" lang="en-US" sz="1850">
                  <a:solidFill>
                    <a:srgbClr val="00482B"/>
                  </a:solidFill>
                  <a:latin typeface="Helvetica"/>
                  <a:ea typeface="Helvetica"/>
                  <a:cs typeface="Helvetica"/>
                  <a:sym typeface="Helvetica"/>
                </a:rPr>
                <a:t>conocimiento tácito</a:t>
              </a:r>
              <a:r>
                <a:rPr lang="en-US" sz="185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>: si se va, se pierde.</a:t>
              </a:r>
            </a:p>
            <a:p>
              <a:pPr algn="l">
                <a:lnSpc>
                  <a:spcPts val="2257"/>
                </a:lnSpc>
                <a:spcAft>
                  <a:spcPts val="500"/>
                </a:spcAft>
              </a:pPr>
              <a:r>
                <a:rPr lang="en-US" sz="185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 xml:space="preserve">SIGA-D1 lo vuelve </a:t>
              </a:r>
              <a:r>
                <a:rPr b="1" lang="en-US" sz="1850">
                  <a:solidFill>
                    <a:srgbClr val="00482B"/>
                  </a:solidFill>
                  <a:latin typeface="Helvetica"/>
                  <a:ea typeface="Helvetica"/>
                  <a:cs typeface="Helvetica"/>
                  <a:sym typeface="Helvetica"/>
                </a:rPr>
                <a:t>explícito, medible y compartido</a:t>
              </a:r>
              <a:r>
                <a:rPr lang="en-US" sz="185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>: decidir con datos, no con intuición.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335000" y="2967990"/>
            <a:ext cx="3733800" cy="5795010"/>
            <a:chOff x="0" y="0"/>
            <a:chExt cx="4978400" cy="77266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78400" cy="7726680"/>
            </a:xfrm>
            <a:custGeom>
              <a:avLst/>
              <a:gdLst/>
              <a:ahLst/>
              <a:cxnLst/>
              <a:rect r="r" b="b" t="t" l="l"/>
              <a:pathLst>
                <a:path h="7726680" w="4978400">
                  <a:moveTo>
                    <a:pt x="0" y="197358"/>
                  </a:moveTo>
                  <a:cubicBezTo>
                    <a:pt x="0" y="88392"/>
                    <a:pt x="88392" y="0"/>
                    <a:pt x="197358" y="0"/>
                  </a:cubicBezTo>
                  <a:lnTo>
                    <a:pt x="4781042" y="0"/>
                  </a:lnTo>
                  <a:cubicBezTo>
                    <a:pt x="4890008" y="0"/>
                    <a:pt x="4978400" y="88392"/>
                    <a:pt x="4978400" y="197358"/>
                  </a:cubicBezTo>
                  <a:lnTo>
                    <a:pt x="4978400" y="7529322"/>
                  </a:lnTo>
                  <a:cubicBezTo>
                    <a:pt x="4978400" y="7638288"/>
                    <a:pt x="4890008" y="7726680"/>
                    <a:pt x="4781042" y="7726680"/>
                  </a:cubicBezTo>
                  <a:lnTo>
                    <a:pt x="197358" y="7726680"/>
                  </a:lnTo>
                  <a:cubicBezTo>
                    <a:pt x="88392" y="7726680"/>
                    <a:pt x="0" y="7638288"/>
                    <a:pt x="0" y="7529322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D6C8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13723620" y="3308985"/>
            <a:ext cx="3045257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>
                <a:solidFill>
                  <a:srgbClr val="00482B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1.4 · Valor 1.5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723620" y="3827145"/>
            <a:ext cx="3045257" cy="47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DAAA00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Objetivos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3723620" y="4419600"/>
            <a:ext cx="2956560" cy="3954780"/>
            <a:chOff x="0" y="0"/>
            <a:chExt cx="3942080" cy="52730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942080" cy="5273040"/>
            </a:xfrm>
            <a:custGeom>
              <a:avLst/>
              <a:gdLst/>
              <a:ahLst/>
              <a:cxnLst/>
              <a:rect r="r" b="b" t="t" l="l"/>
              <a:pathLst>
                <a:path h="5273040" w="3942080">
                  <a:moveTo>
                    <a:pt x="0" y="140589"/>
                  </a:moveTo>
                  <a:cubicBezTo>
                    <a:pt x="0" y="62992"/>
                    <a:pt x="62992" y="0"/>
                    <a:pt x="140589" y="0"/>
                  </a:cubicBezTo>
                  <a:lnTo>
                    <a:pt x="3801491" y="0"/>
                  </a:lnTo>
                  <a:cubicBezTo>
                    <a:pt x="3879088" y="0"/>
                    <a:pt x="3942080" y="62992"/>
                    <a:pt x="3942080" y="140589"/>
                  </a:cubicBezTo>
                  <a:lnTo>
                    <a:pt x="3942080" y="5132451"/>
                  </a:lnTo>
                  <a:cubicBezTo>
                    <a:pt x="3942080" y="5210048"/>
                    <a:pt x="3879088" y="5273040"/>
                    <a:pt x="3801491" y="5273040"/>
                  </a:cubicBezTo>
                  <a:lnTo>
                    <a:pt x="140589" y="5273040"/>
                  </a:lnTo>
                  <a:cubicBezTo>
                    <a:pt x="62992" y="5273040"/>
                    <a:pt x="0" y="5210048"/>
                    <a:pt x="0" y="5132451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21622" t="0" r="-121622" b="0"/>
              </a:stretch>
            </a:blipFill>
            <a:ln w="19050" cap="sq">
              <a:solidFill>
                <a:srgbClr val="C9C1AE"/>
              </a:solidFill>
              <a:prstDash val="dash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3942080" cy="532066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074"/>
                </a:lnSpc>
                <a:spcAft>
                  <a:spcPts val="300"/>
                </a:spcAft>
              </a:pPr>
              <a:r>
                <a:rPr b="1" lang="en-US" sz="1700">
                  <a:solidFill>
                    <a:srgbClr val="00482B"/>
                  </a:solidFill>
                  <a:latin typeface="Helvetica"/>
                  <a:ea typeface="Helvetica"/>
                  <a:cs typeface="Helvetica"/>
                  <a:sym typeface="Helvetica"/>
                </a:rPr>
                <a:t>General:</a:t>
              </a:r>
              <a:r>
                <a:rPr lang="en-US" sz="170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 xml:space="preserve"> desarrollar un sistema web que estime los días de inventario y la confiabilidad de proveedores a partir de los movimientos.</a:t>
              </a:r>
            </a:p>
            <a:p>
              <a:pPr algn="l">
                <a:lnSpc>
                  <a:spcPts val="2074"/>
                </a:lnSpc>
                <a:spcAft>
                  <a:spcPts val="300"/>
                </a:spcAft>
              </a:pPr>
              <a:r>
                <a:rPr b="1" lang="en-US" sz="1700">
                  <a:solidFill>
                    <a:srgbClr val="00482B"/>
                  </a:solidFill>
                  <a:latin typeface="Helvetica"/>
                  <a:ea typeface="Helvetica"/>
                  <a:cs typeface="Helvetica"/>
                  <a:sym typeface="Helvetica"/>
                </a:rPr>
                <a:t>1.</a:t>
              </a:r>
              <a:r>
                <a:rPr lang="en-US" sz="170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 xml:space="preserve"> Registrar entradas y salidas con roles.</a:t>
              </a:r>
            </a:p>
            <a:p>
              <a:pPr algn="l">
                <a:lnSpc>
                  <a:spcPts val="2074"/>
                </a:lnSpc>
                <a:spcAft>
                  <a:spcPts val="300"/>
                </a:spcAft>
              </a:pPr>
              <a:r>
                <a:rPr b="1" lang="en-US" sz="1700">
                  <a:solidFill>
                    <a:srgbClr val="00482B"/>
                  </a:solidFill>
                  <a:latin typeface="Helvetica"/>
                  <a:ea typeface="Helvetica"/>
                  <a:cs typeface="Helvetica"/>
                  <a:sym typeface="Helvetica"/>
                </a:rPr>
                <a:t>2.</a:t>
              </a:r>
              <a:r>
                <a:rPr lang="en-US" sz="170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 xml:space="preserve"> Modelar el inventario por acumulación y flujos.</a:t>
              </a:r>
            </a:p>
            <a:p>
              <a:pPr algn="l">
                <a:lnSpc>
                  <a:spcPts val="2074"/>
                </a:lnSpc>
                <a:spcAft>
                  <a:spcPts val="300"/>
                </a:spcAft>
              </a:pPr>
              <a:r>
                <a:rPr b="1" lang="en-US" sz="1700">
                  <a:solidFill>
                    <a:srgbClr val="00482B"/>
                  </a:solidFill>
                  <a:latin typeface="Helvetica"/>
                  <a:ea typeface="Helvetica"/>
                  <a:cs typeface="Helvetica"/>
                  <a:sym typeface="Helvetica"/>
                </a:rPr>
                <a:t>3.</a:t>
              </a:r>
              <a:r>
                <a:rPr lang="en-US" sz="170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 xml:space="preserve"> Alertar con semáforo según la cobertura.</a:t>
              </a:r>
            </a:p>
            <a:p>
              <a:pPr algn="l">
                <a:lnSpc>
                  <a:spcPts val="2074"/>
                </a:lnSpc>
                <a:spcAft>
                  <a:spcPts val="300"/>
                </a:spcAft>
              </a:pPr>
              <a:r>
                <a:rPr b="1" lang="en-US" sz="1700">
                  <a:solidFill>
                    <a:srgbClr val="00482B"/>
                  </a:solidFill>
                  <a:latin typeface="Helvetica"/>
                  <a:ea typeface="Helvetica"/>
                  <a:cs typeface="Helvetica"/>
                  <a:sym typeface="Helvetica"/>
                </a:rPr>
                <a:t>4.</a:t>
              </a:r>
              <a:r>
                <a:rPr lang="en-US" sz="170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 xml:space="preserve"> Medir el % de cumplimiento por proveedor.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219200" y="9290685"/>
            <a:ext cx="1177290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A7179"/>
                </a:solidFill>
                <a:latin typeface="Helvetica"/>
                <a:ea typeface="Helvetica"/>
                <a:cs typeface="Helvetica"/>
                <a:sym typeface="Helvetica"/>
              </a:rPr>
              <a:t>Sustentación · Gestión del Conocimiento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171575"/>
            <a:ext cx="16325088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>
                <a:solidFill>
                  <a:srgbClr val="00482B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ASPECTO 2 DE 7 · ESCALA 0.5 A 5.0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718310"/>
            <a:ext cx="16325088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>
                <a:solidFill>
                  <a:srgbClr val="DAAA00"/>
                </a:solidFill>
                <a:latin typeface="Georgia"/>
                <a:ea typeface="Georgia"/>
                <a:cs typeface="Georgia"/>
                <a:sym typeface="Georgia"/>
              </a:rPr>
              <a:t>Alcances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19200" y="2967990"/>
            <a:ext cx="15849600" cy="3729990"/>
            <a:chOff x="0" y="0"/>
            <a:chExt cx="21132800" cy="49733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132800" cy="4973320"/>
            </a:xfrm>
            <a:custGeom>
              <a:avLst/>
              <a:gdLst/>
              <a:ahLst/>
              <a:cxnLst/>
              <a:rect r="r" b="b" t="t" l="l"/>
              <a:pathLst>
                <a:path h="4973320" w="21132800">
                  <a:moveTo>
                    <a:pt x="0" y="197358"/>
                  </a:moveTo>
                  <a:cubicBezTo>
                    <a:pt x="0" y="88392"/>
                    <a:pt x="88392" y="0"/>
                    <a:pt x="197358" y="0"/>
                  </a:cubicBezTo>
                  <a:lnTo>
                    <a:pt x="20935442" y="0"/>
                  </a:lnTo>
                  <a:cubicBezTo>
                    <a:pt x="21044407" y="0"/>
                    <a:pt x="21132800" y="88392"/>
                    <a:pt x="21132800" y="197358"/>
                  </a:cubicBezTo>
                  <a:lnTo>
                    <a:pt x="21132800" y="4775962"/>
                  </a:lnTo>
                  <a:cubicBezTo>
                    <a:pt x="21132800" y="4884928"/>
                    <a:pt x="21044407" y="4973320"/>
                    <a:pt x="20935442" y="4973320"/>
                  </a:cubicBezTo>
                  <a:lnTo>
                    <a:pt x="197358" y="4973320"/>
                  </a:lnTo>
                  <a:cubicBezTo>
                    <a:pt x="88392" y="4973320"/>
                    <a:pt x="0" y="4884928"/>
                    <a:pt x="0" y="4775962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D6C8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607820" y="3308985"/>
            <a:ext cx="15524531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>
                <a:solidFill>
                  <a:srgbClr val="00482B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2.1 · Valor 5.0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07820" y="3827145"/>
            <a:ext cx="15524531" cy="47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DAAA00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Productos desarrollados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607820" y="4419600"/>
            <a:ext cx="15072360" cy="1889760"/>
            <a:chOff x="0" y="0"/>
            <a:chExt cx="20096480" cy="25196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096480" cy="2519680"/>
            </a:xfrm>
            <a:custGeom>
              <a:avLst/>
              <a:gdLst/>
              <a:ahLst/>
              <a:cxnLst/>
              <a:rect r="r" b="b" t="t" l="l"/>
              <a:pathLst>
                <a:path h="2519680" w="20096480">
                  <a:moveTo>
                    <a:pt x="0" y="141097"/>
                  </a:moveTo>
                  <a:cubicBezTo>
                    <a:pt x="0" y="63246"/>
                    <a:pt x="63246" y="0"/>
                    <a:pt x="141097" y="0"/>
                  </a:cubicBezTo>
                  <a:lnTo>
                    <a:pt x="19955383" y="0"/>
                  </a:lnTo>
                  <a:cubicBezTo>
                    <a:pt x="20033362" y="0"/>
                    <a:pt x="20096480" y="63246"/>
                    <a:pt x="20096480" y="141097"/>
                  </a:cubicBezTo>
                  <a:lnTo>
                    <a:pt x="20096480" y="2378583"/>
                  </a:lnTo>
                  <a:cubicBezTo>
                    <a:pt x="20096480" y="2456561"/>
                    <a:pt x="20033235" y="2519680"/>
                    <a:pt x="19955383" y="2519680"/>
                  </a:cubicBezTo>
                  <a:lnTo>
                    <a:pt x="141097" y="2519680"/>
                  </a:lnTo>
                  <a:cubicBezTo>
                    <a:pt x="63246" y="2519680"/>
                    <a:pt x="0" y="2456434"/>
                    <a:pt x="0" y="2378583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408" r="0" b="-105408"/>
              </a:stretch>
            </a:blipFill>
            <a:ln w="19050" cap="sq">
              <a:solidFill>
                <a:srgbClr val="C9C1AE"/>
              </a:solidFill>
              <a:prstDash val="dash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0096480" cy="257683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1830"/>
                </a:lnSpc>
                <a:spcAft>
                  <a:spcPts val="300"/>
                </a:spcAft>
              </a:pPr>
              <a:r>
                <a:rPr b="1" lang="en-US" sz="1500">
                  <a:solidFill>
                    <a:srgbClr val="00482B"/>
                  </a:solidFill>
                  <a:latin typeface="Helvetica"/>
                  <a:ea typeface="Helvetica"/>
                  <a:cs typeface="Helvetica"/>
                  <a:sym typeface="Helvetica"/>
                </a:rPr>
                <a:t>Qué construimos:</a:t>
              </a:r>
              <a:r>
                <a:rPr lang="en-US" sz="150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 xml:space="preserve"> aplicación web con 7 módulos: acceso por roles, catálogo de productos y proveedores, registro de movimientos, alertas tipo semáforo, confiabilidad de proveedores, dashboard y gestión de usuarios.</a:t>
              </a:r>
            </a:p>
            <a:p>
              <a:pPr algn="l">
                <a:lnSpc>
                  <a:spcPts val="1830"/>
                </a:lnSpc>
                <a:spcAft>
                  <a:spcPts val="300"/>
                </a:spcAft>
              </a:pPr>
              <a:r>
                <a:rPr b="1" lang="en-US" sz="1500">
                  <a:solidFill>
                    <a:srgbClr val="00482B"/>
                  </a:solidFill>
                  <a:latin typeface="Helvetica"/>
                  <a:ea typeface="Helvetica"/>
                  <a:cs typeface="Helvetica"/>
                  <a:sym typeface="Helvetica"/>
                </a:rPr>
                <a:t>Cómo funciona:</a:t>
              </a:r>
              <a:r>
                <a:rPr lang="en-US" sz="150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 xml:space="preserve"> el empleado registra cada venta (salida) y cada entrega (entrada con la cantidad pedida). El sistema calcula: inventario I(t+1) = máx(0, I(t) + R(t) − V(t)); cobertura = stock ÷ ritmo de venta (ROJO ≤ 3 días, AMARILLO ≤ 7, VERDE &gt; 7); cumplimiento = Σ mín(entregado, pedido) ÷ Σ pedido × 100.</a:t>
              </a:r>
            </a:p>
            <a:p>
              <a:pPr algn="l">
                <a:lnSpc>
                  <a:spcPts val="1830"/>
                </a:lnSpc>
                <a:spcAft>
                  <a:spcPts val="300"/>
                </a:spcAft>
              </a:pPr>
              <a:r>
                <a:rPr b="1" lang="en-US" sz="1500">
                  <a:solidFill>
                    <a:srgbClr val="00482B"/>
                  </a:solidFill>
                  <a:latin typeface="Helvetica"/>
                  <a:ea typeface="Helvetica"/>
                  <a:cs typeface="Helvetica"/>
                  <a:sym typeface="Helvetica"/>
                </a:rPr>
                <a:t>Hasta dónde llega:</a:t>
              </a:r>
              <a:r>
                <a:rPr lang="en-US" sz="150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 xml:space="preserve"> una tienda, productos y proveedores ilimitados, 27 pruebas automáticas aprobadas, desplegado en Render. No genera pedidos automáticos ni pronostica temporadas (trabajo futuro).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19200" y="7002780"/>
            <a:ext cx="15849600" cy="1760220"/>
            <a:chOff x="0" y="0"/>
            <a:chExt cx="21132800" cy="23469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132800" cy="2346960"/>
            </a:xfrm>
            <a:custGeom>
              <a:avLst/>
              <a:gdLst/>
              <a:ahLst/>
              <a:cxnLst/>
              <a:rect r="r" b="b" t="t" l="l"/>
              <a:pathLst>
                <a:path h="2346960" w="211328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20929600" y="0"/>
                  </a:lnTo>
                  <a:cubicBezTo>
                    <a:pt x="21041868" y="0"/>
                    <a:pt x="21132800" y="90932"/>
                    <a:pt x="21132800" y="203200"/>
                  </a:cubicBezTo>
                  <a:lnTo>
                    <a:pt x="21132800" y="2143760"/>
                  </a:lnTo>
                  <a:cubicBezTo>
                    <a:pt x="21132800" y="2256028"/>
                    <a:pt x="21041868" y="2346960"/>
                    <a:pt x="20929600" y="2346960"/>
                  </a:cubicBezTo>
                  <a:lnTo>
                    <a:pt x="203200" y="2346960"/>
                  </a:lnTo>
                  <a:cubicBezTo>
                    <a:pt x="90932" y="2346960"/>
                    <a:pt x="0" y="2256028"/>
                    <a:pt x="0" y="2143760"/>
                  </a:cubicBezTo>
                  <a:close/>
                </a:path>
              </a:pathLst>
            </a:custGeom>
            <a:solidFill>
              <a:srgbClr val="00482B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600200" y="7279005"/>
            <a:ext cx="15540228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  <a:spcAft>
                <a:spcPts val="500"/>
              </a:spcAft>
            </a:pPr>
            <a:r>
              <a:rPr lang="en-US" b="true" sz="2250">
                <a:solidFill>
                  <a:srgbClr val="DAAA00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 xml:space="preserve">Tipo de producto: </a:t>
            </a:r>
            <a:r>
              <a:rPr b="1" lang="en-US" sz="2250">
                <a:solidFill>
                  <a:srgbClr val="DAAA00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Software · Sistema de información · Desarrollo web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00200" y="7717155"/>
            <a:ext cx="15540228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>
                <a:solidFill>
                  <a:srgbClr val="F5F2EA"/>
                </a:solidFill>
                <a:latin typeface="Helvetica"/>
                <a:ea typeface="Helvetica"/>
                <a:cs typeface="Helvetica"/>
                <a:sym typeface="Helvetica"/>
              </a:rPr>
              <a:t>Software, sistema de información, prototipo, artículo científico, póster o ponencia, comunidad de práctica, evento académico, revista o libro de divulgación, contenidos digitales, desarrollo web, cursos, emprendimiento e innovación, otros.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19200" y="9290685"/>
            <a:ext cx="1177290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A7179"/>
                </a:solidFill>
                <a:latin typeface="Helvetica"/>
                <a:ea typeface="Helvetica"/>
                <a:cs typeface="Helvetica"/>
                <a:sym typeface="Helvetica"/>
              </a:rPr>
              <a:t>Sustentación · Gestión del Conocimiento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171575"/>
            <a:ext cx="16325088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>
                <a:solidFill>
                  <a:srgbClr val="00482B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ASPECTO 3 DE 7 · ESCALA 0.5 A 5.0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718310"/>
            <a:ext cx="16325088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>
                <a:solidFill>
                  <a:srgbClr val="DAAA00"/>
                </a:solidFill>
                <a:latin typeface="Georgia"/>
                <a:ea typeface="Georgia"/>
                <a:cs typeface="Georgia"/>
                <a:sym typeface="Georgia"/>
              </a:rPr>
              <a:t>Marco teórico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19200" y="2967990"/>
            <a:ext cx="15849600" cy="5795010"/>
            <a:chOff x="0" y="0"/>
            <a:chExt cx="21132800" cy="77266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132800" cy="7726680"/>
            </a:xfrm>
            <a:custGeom>
              <a:avLst/>
              <a:gdLst/>
              <a:ahLst/>
              <a:cxnLst/>
              <a:rect r="r" b="b" t="t" l="l"/>
              <a:pathLst>
                <a:path h="7726680" w="21132800">
                  <a:moveTo>
                    <a:pt x="0" y="197231"/>
                  </a:moveTo>
                  <a:cubicBezTo>
                    <a:pt x="0" y="88265"/>
                    <a:pt x="88265" y="0"/>
                    <a:pt x="197231" y="0"/>
                  </a:cubicBezTo>
                  <a:lnTo>
                    <a:pt x="20935569" y="0"/>
                  </a:lnTo>
                  <a:cubicBezTo>
                    <a:pt x="21044408" y="0"/>
                    <a:pt x="21132800" y="88265"/>
                    <a:pt x="21132800" y="197231"/>
                  </a:cubicBezTo>
                  <a:lnTo>
                    <a:pt x="21132800" y="7529449"/>
                  </a:lnTo>
                  <a:cubicBezTo>
                    <a:pt x="21132800" y="7638288"/>
                    <a:pt x="21044534" y="7726680"/>
                    <a:pt x="20935569" y="7726680"/>
                  </a:cubicBezTo>
                  <a:lnTo>
                    <a:pt x="197231" y="7726680"/>
                  </a:lnTo>
                  <a:cubicBezTo>
                    <a:pt x="88265" y="7726680"/>
                    <a:pt x="0" y="7638415"/>
                    <a:pt x="0" y="7529449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D6C8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684020" y="3385185"/>
            <a:ext cx="15367559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>
                <a:solidFill>
                  <a:srgbClr val="00482B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3.1 · Valor 5.0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84020" y="3903345"/>
            <a:ext cx="15367559" cy="47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DAAA00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Fundamentos teóricos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684020" y="4495800"/>
            <a:ext cx="14919960" cy="3802380"/>
            <a:chOff x="0" y="0"/>
            <a:chExt cx="19893280" cy="5069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893280" cy="5069840"/>
            </a:xfrm>
            <a:custGeom>
              <a:avLst/>
              <a:gdLst/>
              <a:ahLst/>
              <a:cxnLst/>
              <a:rect r="r" b="b" t="t" l="l"/>
              <a:pathLst>
                <a:path h="5069840" w="19893280">
                  <a:moveTo>
                    <a:pt x="0" y="140335"/>
                  </a:moveTo>
                  <a:cubicBezTo>
                    <a:pt x="0" y="62865"/>
                    <a:pt x="62865" y="0"/>
                    <a:pt x="140335" y="0"/>
                  </a:cubicBezTo>
                  <a:lnTo>
                    <a:pt x="19752945" y="0"/>
                  </a:lnTo>
                  <a:cubicBezTo>
                    <a:pt x="19830414" y="0"/>
                    <a:pt x="19893280" y="62865"/>
                    <a:pt x="19893280" y="140335"/>
                  </a:cubicBezTo>
                  <a:lnTo>
                    <a:pt x="19893280" y="4929505"/>
                  </a:lnTo>
                  <a:cubicBezTo>
                    <a:pt x="19893280" y="5006975"/>
                    <a:pt x="19830414" y="5069840"/>
                    <a:pt x="19752945" y="5069840"/>
                  </a:cubicBezTo>
                  <a:lnTo>
                    <a:pt x="140335" y="5069840"/>
                  </a:lnTo>
                  <a:cubicBezTo>
                    <a:pt x="62865" y="5069840"/>
                    <a:pt x="0" y="5006975"/>
                    <a:pt x="0" y="4929505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56" r="0" b="-26456"/>
              </a:stretch>
            </a:blipFill>
            <a:ln w="19050" cap="sq">
              <a:solidFill>
                <a:srgbClr val="C9C1AE"/>
              </a:solidFill>
              <a:prstDash val="dash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9893280" cy="512699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318"/>
                </a:lnSpc>
                <a:spcAft>
                  <a:spcPts val="400"/>
                </a:spcAft>
              </a:pPr>
              <a:r>
                <a:rPr b="1" lang="en-US" sz="1900">
                  <a:solidFill>
                    <a:srgbClr val="00482B"/>
                  </a:solidFill>
                  <a:latin typeface="Helvetica"/>
                  <a:ea typeface="Helvetica"/>
                  <a:cs typeface="Helvetica"/>
                  <a:sym typeface="Helvetica"/>
                </a:rPr>
                <a:t>Conceptos clave:</a:t>
              </a:r>
              <a:r>
                <a:rPr lang="en-US" sz="190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 xml:space="preserve"> conocimiento tácito vs. explícito (Polanyi; Nonaka y Takeuchi). </a:t>
              </a:r>
              <a:r>
                <a:rPr b="1" lang="en-US" sz="1900">
                  <a:solidFill>
                    <a:srgbClr val="00482B"/>
                  </a:solidFill>
                  <a:latin typeface="Helvetica"/>
                  <a:ea typeface="Helvetica"/>
                  <a:cs typeface="Helvetica"/>
                  <a:sym typeface="Helvetica"/>
                </a:rPr>
                <a:t>Modelo SECI:</a:t>
              </a:r>
              <a:r>
                <a:rPr lang="en-US" sz="190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 xml:space="preserve"> socialización (experiencia del personal) → externalización (registrar movimientos) → combinación (cálculos) → internalización (las alertas guían la decisión). </a:t>
              </a:r>
              <a:r>
                <a:rPr b="1" lang="en-US" sz="1900">
                  <a:solidFill>
                    <a:srgbClr val="00482B"/>
                  </a:solidFill>
                  <a:latin typeface="Helvetica"/>
                  <a:ea typeface="Helvetica"/>
                  <a:cs typeface="Helvetica"/>
                  <a:sym typeface="Helvetica"/>
                </a:rPr>
                <a:t>Pirámide DIKW:</a:t>
              </a:r>
              <a:r>
                <a:rPr lang="en-US" sz="190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 xml:space="preserve"> datos (movimientos) → información (stock) → conocimiento (cobertura, cumplimiento) → decisión (qué pedir). </a:t>
              </a:r>
              <a:r>
                <a:rPr b="1" lang="en-US" sz="1900">
                  <a:solidFill>
                    <a:srgbClr val="00482B"/>
                  </a:solidFill>
                  <a:latin typeface="Helvetica"/>
                  <a:ea typeface="Helvetica"/>
                  <a:cs typeface="Helvetica"/>
                  <a:sym typeface="Helvetica"/>
                </a:rPr>
                <a:t>Dinámica de sistemas:</a:t>
              </a:r>
              <a:r>
                <a:rPr lang="en-US" sz="190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 xml:space="preserve"> modelo de acumulación y flujos.</a:t>
              </a:r>
            </a:p>
            <a:p>
              <a:pPr algn="l">
                <a:lnSpc>
                  <a:spcPts val="2318"/>
                </a:lnSpc>
                <a:spcAft>
                  <a:spcPts val="400"/>
                </a:spcAft>
              </a:pPr>
              <a:r>
                <a:rPr b="1" lang="en-US" sz="1900">
                  <a:solidFill>
                    <a:srgbClr val="00482B"/>
                  </a:solidFill>
                  <a:latin typeface="Helvetica"/>
                  <a:ea typeface="Helvetica"/>
                  <a:cs typeface="Helvetica"/>
                  <a:sym typeface="Helvetica"/>
                </a:rPr>
                <a:t>Antecedentes:</a:t>
              </a:r>
              <a:r>
                <a:rPr lang="en-US" sz="190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 xml:space="preserve"> ERP comerciales (SAP, Odoo) con módulos de inventario; modelos clásicos de inventario (días de cobertura, punto de reorden); indicadores de proveedor fill rate y OTIF.</a:t>
              </a:r>
            </a:p>
            <a:p>
              <a:pPr algn="l">
                <a:lnSpc>
                  <a:spcPts val="2318"/>
                </a:lnSpc>
                <a:spcAft>
                  <a:spcPts val="0"/>
                </a:spcAft>
              </a:pPr>
              <a:r>
                <a:rPr b="1" lang="en-US" sz="1900">
                  <a:solidFill>
                    <a:srgbClr val="00482B"/>
                  </a:solidFill>
                  <a:latin typeface="Helvetica"/>
                  <a:ea typeface="Helvetica"/>
                  <a:cs typeface="Helvetica"/>
                  <a:sym typeface="Helvetica"/>
                </a:rPr>
                <a:t>Referencias:</a:t>
              </a:r>
              <a:r>
                <a:rPr lang="en-US" sz="190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 xml:space="preserve"> Nonaka, I. y Takeuchi, H. (1995). The Knowledge-Creating Company. Oxford University Press · Polanyi, M. (1966). The Tacit Dimension. Doubleday · Ackoff, R. (1989). From data to wisdom. J. of Applied Systems Analysis, 16, 3-9 · Sterman, J. (2000). Business Dynamics. McGraw-Hill · Chopra, S. y Meindl, P. (2016). Supply Chain Management. Pearson.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219200" y="9290685"/>
            <a:ext cx="1177290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A7179"/>
                </a:solidFill>
                <a:latin typeface="Helvetica"/>
                <a:ea typeface="Helvetica"/>
                <a:cs typeface="Helvetica"/>
                <a:sym typeface="Helvetica"/>
              </a:rPr>
              <a:t>Sustentación · Gestión del Conocimiento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171575"/>
            <a:ext cx="16325088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>
                <a:solidFill>
                  <a:srgbClr val="00482B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ASPECTO 4 DE 7 · ESCALA 0.5 A 5.0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718310"/>
            <a:ext cx="16325088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>
                <a:solidFill>
                  <a:srgbClr val="DAAA00"/>
                </a:solidFill>
                <a:latin typeface="Georgia"/>
                <a:ea typeface="Georgia"/>
                <a:cs typeface="Georgia"/>
                <a:sym typeface="Georgia"/>
              </a:rPr>
              <a:t>Impacto tecnológico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19200" y="2967990"/>
            <a:ext cx="3737610" cy="5795010"/>
            <a:chOff x="0" y="0"/>
            <a:chExt cx="4983480" cy="77266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983480" cy="7726680"/>
            </a:xfrm>
            <a:custGeom>
              <a:avLst/>
              <a:gdLst/>
              <a:ahLst/>
              <a:cxnLst/>
              <a:rect r="r" b="b" t="t" l="l"/>
              <a:pathLst>
                <a:path h="7726680" w="4983480">
                  <a:moveTo>
                    <a:pt x="0" y="197358"/>
                  </a:moveTo>
                  <a:cubicBezTo>
                    <a:pt x="0" y="88392"/>
                    <a:pt x="88392" y="0"/>
                    <a:pt x="197358" y="0"/>
                  </a:cubicBezTo>
                  <a:lnTo>
                    <a:pt x="4786122" y="0"/>
                  </a:lnTo>
                  <a:cubicBezTo>
                    <a:pt x="4895088" y="0"/>
                    <a:pt x="4983480" y="88392"/>
                    <a:pt x="4983480" y="197358"/>
                  </a:cubicBezTo>
                  <a:lnTo>
                    <a:pt x="4983480" y="7529322"/>
                  </a:lnTo>
                  <a:cubicBezTo>
                    <a:pt x="4983480" y="7638288"/>
                    <a:pt x="4895088" y="7726680"/>
                    <a:pt x="4786122" y="7726680"/>
                  </a:cubicBezTo>
                  <a:lnTo>
                    <a:pt x="197358" y="7726680"/>
                  </a:lnTo>
                  <a:cubicBezTo>
                    <a:pt x="88392" y="7726680"/>
                    <a:pt x="0" y="7638288"/>
                    <a:pt x="0" y="7529322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D6C8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607820" y="3308985"/>
            <a:ext cx="3049181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>
                <a:solidFill>
                  <a:srgbClr val="00482B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4.1 · Valor 1.0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07820" y="3827145"/>
            <a:ext cx="3049181" cy="88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DAAA00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Uso de plataformas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607820" y="4831080"/>
            <a:ext cx="2960370" cy="3543300"/>
            <a:chOff x="0" y="0"/>
            <a:chExt cx="3947160" cy="472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47160" cy="4724400"/>
            </a:xfrm>
            <a:custGeom>
              <a:avLst/>
              <a:gdLst/>
              <a:ahLst/>
              <a:cxnLst/>
              <a:rect r="r" b="b" t="t" l="l"/>
              <a:pathLst>
                <a:path h="4724400" w="3947160">
                  <a:moveTo>
                    <a:pt x="0" y="140589"/>
                  </a:moveTo>
                  <a:cubicBezTo>
                    <a:pt x="0" y="62992"/>
                    <a:pt x="62992" y="0"/>
                    <a:pt x="140589" y="0"/>
                  </a:cubicBezTo>
                  <a:lnTo>
                    <a:pt x="3806571" y="0"/>
                  </a:lnTo>
                  <a:cubicBezTo>
                    <a:pt x="3884168" y="0"/>
                    <a:pt x="3947160" y="62992"/>
                    <a:pt x="3947160" y="140589"/>
                  </a:cubicBezTo>
                  <a:lnTo>
                    <a:pt x="3947160" y="4583811"/>
                  </a:lnTo>
                  <a:cubicBezTo>
                    <a:pt x="3947160" y="4661408"/>
                    <a:pt x="3884168" y="4724400"/>
                    <a:pt x="3806571" y="4724400"/>
                  </a:cubicBezTo>
                  <a:lnTo>
                    <a:pt x="140589" y="4724400"/>
                  </a:lnTo>
                  <a:cubicBezTo>
                    <a:pt x="62992" y="4724400"/>
                    <a:pt x="0" y="4661408"/>
                    <a:pt x="0" y="4583811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567" t="0" r="-103567" b="0"/>
              </a:stretch>
            </a:blipFill>
            <a:ln w="19050" cap="sq">
              <a:solidFill>
                <a:srgbClr val="C9C1AE"/>
              </a:solidFill>
              <a:prstDash val="dash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947160" cy="477202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135"/>
                </a:lnSpc>
                <a:spcAft>
                  <a:spcPts val="200"/>
                </a:spcAft>
              </a:pPr>
              <a:r>
                <a:rPr b="1" lang="en-US" sz="1750">
                  <a:solidFill>
                    <a:srgbClr val="00482B"/>
                  </a:solidFill>
                  <a:latin typeface="Helvetica"/>
                  <a:ea typeface="Helvetica"/>
                  <a:cs typeface="Helvetica"/>
                  <a:sym typeface="Helvetica"/>
                </a:rPr>
                <a:t>React + Vite + Tailwind:</a:t>
              </a:r>
              <a:r>
                <a:rPr lang="en-US" sz="175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 xml:space="preserve"> interfaz rápida.</a:t>
              </a:r>
            </a:p>
            <a:p>
              <a:pPr algn="l">
                <a:lnSpc>
                  <a:spcPts val="2135"/>
                </a:lnSpc>
                <a:spcAft>
                  <a:spcPts val="200"/>
                </a:spcAft>
              </a:pPr>
              <a:r>
                <a:rPr b="1" lang="en-US" sz="1750">
                  <a:solidFill>
                    <a:srgbClr val="00482B"/>
                  </a:solidFill>
                  <a:latin typeface="Helvetica"/>
                  <a:ea typeface="Helvetica"/>
                  <a:cs typeface="Helvetica"/>
                  <a:sym typeface="Helvetica"/>
                </a:rPr>
                <a:t>Node.js + Express:</a:t>
              </a:r>
              <a:r>
                <a:rPr lang="en-US" sz="175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 xml:space="preserve"> API REST.</a:t>
              </a:r>
            </a:p>
            <a:p>
              <a:pPr algn="l">
                <a:lnSpc>
                  <a:spcPts val="2135"/>
                </a:lnSpc>
                <a:spcAft>
                  <a:spcPts val="200"/>
                </a:spcAft>
              </a:pPr>
              <a:r>
                <a:rPr b="1" lang="en-US" sz="1750">
                  <a:solidFill>
                    <a:srgbClr val="00482B"/>
                  </a:solidFill>
                  <a:latin typeface="Helvetica"/>
                  <a:ea typeface="Helvetica"/>
                  <a:cs typeface="Helvetica"/>
                  <a:sym typeface="Helvetica"/>
                </a:rPr>
                <a:t>PostgreSQL + Prisma:</a:t>
              </a:r>
              <a:r>
                <a:rPr lang="en-US" sz="175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 xml:space="preserve"> datos íntegros.</a:t>
              </a:r>
            </a:p>
            <a:p>
              <a:pPr algn="l">
                <a:lnSpc>
                  <a:spcPts val="2135"/>
                </a:lnSpc>
                <a:spcAft>
                  <a:spcPts val="200"/>
                </a:spcAft>
              </a:pPr>
              <a:r>
                <a:rPr b="1" lang="en-US" sz="1750">
                  <a:solidFill>
                    <a:srgbClr val="00482B"/>
                  </a:solidFill>
                  <a:latin typeface="Helvetica"/>
                  <a:ea typeface="Helvetica"/>
                  <a:cs typeface="Helvetica"/>
                  <a:sym typeface="Helvetica"/>
                </a:rPr>
                <a:t>Render:</a:t>
              </a:r>
              <a:r>
                <a:rPr lang="en-US" sz="175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 xml:space="preserve"> despliegue gratuito.</a:t>
              </a:r>
            </a:p>
            <a:p>
              <a:pPr algn="l">
                <a:lnSpc>
                  <a:spcPts val="2135"/>
                </a:lnSpc>
                <a:spcAft>
                  <a:spcPts val="200"/>
                </a:spcAft>
              </a:pPr>
              <a:r>
                <a:rPr lang="en-US" sz="175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>Un solo lenguaje (JavaScript), libre y muy usado.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261610" y="2967990"/>
            <a:ext cx="3737610" cy="5795010"/>
            <a:chOff x="0" y="0"/>
            <a:chExt cx="4983480" cy="77266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983480" cy="7726680"/>
            </a:xfrm>
            <a:custGeom>
              <a:avLst/>
              <a:gdLst/>
              <a:ahLst/>
              <a:cxnLst/>
              <a:rect r="r" b="b" t="t" l="l"/>
              <a:pathLst>
                <a:path h="7726680" w="4983480">
                  <a:moveTo>
                    <a:pt x="0" y="197358"/>
                  </a:moveTo>
                  <a:cubicBezTo>
                    <a:pt x="0" y="88392"/>
                    <a:pt x="88392" y="0"/>
                    <a:pt x="197358" y="0"/>
                  </a:cubicBezTo>
                  <a:lnTo>
                    <a:pt x="4786122" y="0"/>
                  </a:lnTo>
                  <a:cubicBezTo>
                    <a:pt x="4895088" y="0"/>
                    <a:pt x="4983480" y="88392"/>
                    <a:pt x="4983480" y="197358"/>
                  </a:cubicBezTo>
                  <a:lnTo>
                    <a:pt x="4983480" y="7529322"/>
                  </a:lnTo>
                  <a:cubicBezTo>
                    <a:pt x="4983480" y="7638288"/>
                    <a:pt x="4895088" y="7726680"/>
                    <a:pt x="4786122" y="7726680"/>
                  </a:cubicBezTo>
                  <a:lnTo>
                    <a:pt x="197358" y="7726680"/>
                  </a:lnTo>
                  <a:cubicBezTo>
                    <a:pt x="88392" y="7726680"/>
                    <a:pt x="0" y="7638288"/>
                    <a:pt x="0" y="7529322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D6C8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5650230" y="3308985"/>
            <a:ext cx="3049181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>
                <a:solidFill>
                  <a:srgbClr val="00482B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4.2 · Valor 1.0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650230" y="3827145"/>
            <a:ext cx="3049181" cy="1301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DAAA00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Integración con sistemas existentes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650230" y="5242560"/>
            <a:ext cx="2960370" cy="3131820"/>
            <a:chOff x="0" y="0"/>
            <a:chExt cx="3947160" cy="41757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947160" cy="4175760"/>
            </a:xfrm>
            <a:custGeom>
              <a:avLst/>
              <a:gdLst/>
              <a:ahLst/>
              <a:cxnLst/>
              <a:rect r="r" b="b" t="t" l="l"/>
              <a:pathLst>
                <a:path h="4175760" w="3947160">
                  <a:moveTo>
                    <a:pt x="0" y="140589"/>
                  </a:moveTo>
                  <a:cubicBezTo>
                    <a:pt x="0" y="62992"/>
                    <a:pt x="62992" y="0"/>
                    <a:pt x="140589" y="0"/>
                  </a:cubicBezTo>
                  <a:lnTo>
                    <a:pt x="3806571" y="0"/>
                  </a:lnTo>
                  <a:cubicBezTo>
                    <a:pt x="3884168" y="0"/>
                    <a:pt x="3947160" y="62992"/>
                    <a:pt x="3947160" y="140589"/>
                  </a:cubicBezTo>
                  <a:lnTo>
                    <a:pt x="3947160" y="4035171"/>
                  </a:lnTo>
                  <a:cubicBezTo>
                    <a:pt x="3947160" y="4112768"/>
                    <a:pt x="3884168" y="4175760"/>
                    <a:pt x="3806571" y="4175760"/>
                  </a:cubicBezTo>
                  <a:lnTo>
                    <a:pt x="140589" y="4175760"/>
                  </a:lnTo>
                  <a:cubicBezTo>
                    <a:pt x="62992" y="4175760"/>
                    <a:pt x="0" y="4112768"/>
                    <a:pt x="0" y="4035171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5734" t="0" r="-85734" b="0"/>
              </a:stretch>
            </a:blipFill>
            <a:ln w="19050" cap="sq">
              <a:solidFill>
                <a:srgbClr val="C9C1AE"/>
              </a:solidFill>
              <a:prstDash val="dash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3947160" cy="422338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135"/>
                </a:lnSpc>
                <a:spcAft>
                  <a:spcPts val="200"/>
                </a:spcAft>
              </a:pPr>
              <a:r>
                <a:rPr lang="en-US" sz="175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>API REST en JSON: una caja registradora, un ERP o una hoja de cálculo pueden enviar ventas y entregas.</a:t>
              </a:r>
            </a:p>
            <a:p>
              <a:pPr algn="l">
                <a:lnSpc>
                  <a:spcPts val="2135"/>
                </a:lnSpc>
                <a:spcAft>
                  <a:spcPts val="200"/>
                </a:spcAft>
              </a:pPr>
              <a:r>
                <a:rPr lang="en-US" sz="175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>Datos estándar en PostgreSQL, exportables.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304020" y="2967990"/>
            <a:ext cx="3737610" cy="5795010"/>
            <a:chOff x="0" y="0"/>
            <a:chExt cx="4983480" cy="77266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983480" cy="7726680"/>
            </a:xfrm>
            <a:custGeom>
              <a:avLst/>
              <a:gdLst/>
              <a:ahLst/>
              <a:cxnLst/>
              <a:rect r="r" b="b" t="t" l="l"/>
              <a:pathLst>
                <a:path h="7726680" w="4983480">
                  <a:moveTo>
                    <a:pt x="0" y="197358"/>
                  </a:moveTo>
                  <a:cubicBezTo>
                    <a:pt x="0" y="88392"/>
                    <a:pt x="88392" y="0"/>
                    <a:pt x="197358" y="0"/>
                  </a:cubicBezTo>
                  <a:lnTo>
                    <a:pt x="4786122" y="0"/>
                  </a:lnTo>
                  <a:cubicBezTo>
                    <a:pt x="4895088" y="0"/>
                    <a:pt x="4983480" y="88392"/>
                    <a:pt x="4983480" y="197358"/>
                  </a:cubicBezTo>
                  <a:lnTo>
                    <a:pt x="4983480" y="7529322"/>
                  </a:lnTo>
                  <a:cubicBezTo>
                    <a:pt x="4983480" y="7638288"/>
                    <a:pt x="4895088" y="7726680"/>
                    <a:pt x="4786122" y="7726680"/>
                  </a:cubicBezTo>
                  <a:lnTo>
                    <a:pt x="197358" y="7726680"/>
                  </a:lnTo>
                  <a:cubicBezTo>
                    <a:pt x="88392" y="7726680"/>
                    <a:pt x="0" y="7638288"/>
                    <a:pt x="0" y="7529322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D6C8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9692640" y="3308985"/>
            <a:ext cx="3049181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>
                <a:solidFill>
                  <a:srgbClr val="00482B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4.3 · Valor 1.0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92640" y="3827145"/>
            <a:ext cx="3049181" cy="47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DAAA00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Escalabilidad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692640" y="4419600"/>
            <a:ext cx="2960370" cy="3954780"/>
            <a:chOff x="0" y="0"/>
            <a:chExt cx="3947160" cy="52730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947160" cy="5273040"/>
            </a:xfrm>
            <a:custGeom>
              <a:avLst/>
              <a:gdLst/>
              <a:ahLst/>
              <a:cxnLst/>
              <a:rect r="r" b="b" t="t" l="l"/>
              <a:pathLst>
                <a:path h="5273040" w="3947160">
                  <a:moveTo>
                    <a:pt x="0" y="140589"/>
                  </a:moveTo>
                  <a:cubicBezTo>
                    <a:pt x="0" y="62992"/>
                    <a:pt x="62992" y="0"/>
                    <a:pt x="140589" y="0"/>
                  </a:cubicBezTo>
                  <a:lnTo>
                    <a:pt x="3806571" y="0"/>
                  </a:lnTo>
                  <a:cubicBezTo>
                    <a:pt x="3884168" y="0"/>
                    <a:pt x="3947160" y="62992"/>
                    <a:pt x="3947160" y="140589"/>
                  </a:cubicBezTo>
                  <a:lnTo>
                    <a:pt x="3947160" y="5132451"/>
                  </a:lnTo>
                  <a:cubicBezTo>
                    <a:pt x="3947160" y="5210048"/>
                    <a:pt x="3884168" y="5273040"/>
                    <a:pt x="3806571" y="5273040"/>
                  </a:cubicBezTo>
                  <a:lnTo>
                    <a:pt x="140589" y="5273040"/>
                  </a:lnTo>
                  <a:cubicBezTo>
                    <a:pt x="62992" y="5273040"/>
                    <a:pt x="0" y="5210048"/>
                    <a:pt x="0" y="5132451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1401" t="0" r="-121401" b="0"/>
              </a:stretch>
            </a:blipFill>
            <a:ln w="19050" cap="sq">
              <a:solidFill>
                <a:srgbClr val="C9C1AE"/>
              </a:solidFill>
              <a:prstDash val="dash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3947160" cy="532066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135"/>
                </a:lnSpc>
                <a:spcAft>
                  <a:spcPts val="200"/>
                </a:spcAft>
              </a:pPr>
              <a:r>
                <a:rPr lang="en-US" sz="175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>Arquitectura por capas.</a:t>
              </a:r>
            </a:p>
            <a:p>
              <a:pPr algn="l">
                <a:lnSpc>
                  <a:spcPts val="2135"/>
                </a:lnSpc>
                <a:spcAft>
                  <a:spcPts val="200"/>
                </a:spcAft>
              </a:pPr>
              <a:r>
                <a:rPr lang="en-US" sz="175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>Índices en la base de datos y consultas acotadas (últimas 5 ventas por producto).</a:t>
              </a:r>
            </a:p>
            <a:p>
              <a:pPr algn="l">
                <a:lnSpc>
                  <a:spcPts val="2135"/>
                </a:lnSpc>
                <a:spcAft>
                  <a:spcPts val="200"/>
                </a:spcAft>
              </a:pPr>
              <a:r>
                <a:rPr lang="en-US" sz="175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>Servidor sin estado (JWT): admite más instancias.</a:t>
              </a:r>
            </a:p>
            <a:p>
              <a:pPr algn="l">
                <a:lnSpc>
                  <a:spcPts val="2135"/>
                </a:lnSpc>
                <a:spcAft>
                  <a:spcPts val="200"/>
                </a:spcAft>
              </a:pPr>
              <a:r>
                <a:rPr lang="en-US" sz="175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>Umbrales configurables.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346430" y="2967990"/>
            <a:ext cx="3722370" cy="5795010"/>
            <a:chOff x="0" y="0"/>
            <a:chExt cx="4963160" cy="77266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963160" cy="7726680"/>
            </a:xfrm>
            <a:custGeom>
              <a:avLst/>
              <a:gdLst/>
              <a:ahLst/>
              <a:cxnLst/>
              <a:rect r="r" b="b" t="t" l="l"/>
              <a:pathLst>
                <a:path h="7726680" w="496316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4759960" y="0"/>
                  </a:lnTo>
                  <a:cubicBezTo>
                    <a:pt x="4872228" y="0"/>
                    <a:pt x="4963160" y="90932"/>
                    <a:pt x="4963160" y="203200"/>
                  </a:cubicBezTo>
                  <a:lnTo>
                    <a:pt x="4963160" y="7523480"/>
                  </a:lnTo>
                  <a:cubicBezTo>
                    <a:pt x="4963160" y="7635749"/>
                    <a:pt x="4872228" y="7726680"/>
                    <a:pt x="4759960" y="7726680"/>
                  </a:cubicBezTo>
                  <a:lnTo>
                    <a:pt x="203200" y="7726680"/>
                  </a:lnTo>
                  <a:cubicBezTo>
                    <a:pt x="90932" y="7726680"/>
                    <a:pt x="0" y="7635749"/>
                    <a:pt x="0" y="7523480"/>
                  </a:cubicBezTo>
                  <a:close/>
                </a:path>
              </a:pathLst>
            </a:custGeom>
            <a:solidFill>
              <a:srgbClr val="00482B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3727430" y="3301365"/>
            <a:ext cx="3049181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>
                <a:solidFill>
                  <a:srgbClr val="DAAA00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4.4 · Valor 2.0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727430" y="3819525"/>
            <a:ext cx="3049181" cy="88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5F2EA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Seguridad y acceso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3727430" y="4823460"/>
            <a:ext cx="2960370" cy="3558540"/>
            <a:chOff x="0" y="0"/>
            <a:chExt cx="3947160" cy="47447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47160" cy="4744720"/>
            </a:xfrm>
            <a:custGeom>
              <a:avLst/>
              <a:gdLst/>
              <a:ahLst/>
              <a:cxnLst/>
              <a:rect r="r" b="b" t="t" l="l"/>
              <a:pathLst>
                <a:path h="4744720" w="3947160">
                  <a:moveTo>
                    <a:pt x="0" y="140589"/>
                  </a:moveTo>
                  <a:cubicBezTo>
                    <a:pt x="0" y="62992"/>
                    <a:pt x="62992" y="0"/>
                    <a:pt x="140589" y="0"/>
                  </a:cubicBezTo>
                  <a:lnTo>
                    <a:pt x="3806571" y="0"/>
                  </a:lnTo>
                  <a:cubicBezTo>
                    <a:pt x="3884168" y="0"/>
                    <a:pt x="3947160" y="62992"/>
                    <a:pt x="3947160" y="140589"/>
                  </a:cubicBezTo>
                  <a:lnTo>
                    <a:pt x="3947160" y="4604131"/>
                  </a:lnTo>
                  <a:cubicBezTo>
                    <a:pt x="3947160" y="4681728"/>
                    <a:pt x="3884168" y="4744720"/>
                    <a:pt x="3806571" y="4744720"/>
                  </a:cubicBezTo>
                  <a:lnTo>
                    <a:pt x="140589" y="4744720"/>
                  </a:lnTo>
                  <a:cubicBezTo>
                    <a:pt x="62992" y="4744720"/>
                    <a:pt x="0" y="4681728"/>
                    <a:pt x="0" y="4604131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4228" t="0" r="-104228" b="0"/>
              </a:stretch>
            </a:blipFill>
            <a:ln w="19050" cap="sq">
              <a:solidFill>
                <a:srgbClr val="E9A36F"/>
              </a:solidFill>
              <a:prstDash val="dash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3947160" cy="479234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135"/>
                </a:lnSpc>
                <a:spcAft>
                  <a:spcPts val="200"/>
                </a:spcAft>
              </a:pPr>
              <a:r>
                <a:rPr lang="en-US" sz="1750">
                  <a:solidFill>
                    <a:srgbClr val="D8D4C8"/>
                  </a:solidFill>
                  <a:latin typeface="Helvetica"/>
                  <a:ea typeface="Helvetica"/>
                  <a:cs typeface="Helvetica"/>
                  <a:sym typeface="Helvetica"/>
                </a:rPr>
                <a:t xml:space="preserve">Login con </a:t>
              </a:r>
              <a:r>
                <a:rPr b="1" lang="en-US" sz="1750">
                  <a:solidFill>
                    <a:srgbClr val="D8D4C8"/>
                  </a:solidFill>
                  <a:latin typeface="Helvetica"/>
                  <a:ea typeface="Helvetica"/>
                  <a:cs typeface="Helvetica"/>
                  <a:sym typeface="Helvetica"/>
                </a:rPr>
                <a:t>JWT</a:t>
              </a:r>
              <a:r>
                <a:rPr lang="en-US" sz="1750">
                  <a:solidFill>
                    <a:srgbClr val="D8D4C8"/>
                  </a:solidFill>
                  <a:latin typeface="Helvetica"/>
                  <a:ea typeface="Helvetica"/>
                  <a:cs typeface="Helvetica"/>
                  <a:sym typeface="Helvetica"/>
                </a:rPr>
                <a:t xml:space="preserve"> y contraseñas cifradas con </a:t>
              </a:r>
              <a:r>
                <a:rPr b="1" lang="en-US" sz="1750">
                  <a:solidFill>
                    <a:srgbClr val="D8D4C8"/>
                  </a:solidFill>
                  <a:latin typeface="Helvetica"/>
                  <a:ea typeface="Helvetica"/>
                  <a:cs typeface="Helvetica"/>
                  <a:sym typeface="Helvetica"/>
                </a:rPr>
                <a:t>bcrypt</a:t>
              </a:r>
              <a:r>
                <a:rPr lang="en-US" sz="1750">
                  <a:solidFill>
                    <a:srgbClr val="D8D4C8"/>
                  </a:solidFill>
                  <a:latin typeface="Helvetica"/>
                  <a:ea typeface="Helvetica"/>
                  <a:cs typeface="Helvetica"/>
                  <a:sym typeface="Helvetica"/>
                </a:rPr>
                <a:t>.</a:t>
              </a:r>
            </a:p>
            <a:p>
              <a:pPr algn="l">
                <a:lnSpc>
                  <a:spcPts val="2135"/>
                </a:lnSpc>
                <a:spcAft>
                  <a:spcPts val="200"/>
                </a:spcAft>
              </a:pPr>
              <a:r>
                <a:rPr lang="en-US" sz="1750">
                  <a:solidFill>
                    <a:srgbClr val="D8D4C8"/>
                  </a:solidFill>
                  <a:latin typeface="Helvetica"/>
                  <a:ea typeface="Helvetica"/>
                  <a:cs typeface="Helvetica"/>
                  <a:sym typeface="Helvetica"/>
                </a:rPr>
                <a:t xml:space="preserve">Roles </a:t>
              </a:r>
              <a:r>
                <a:rPr b="1" lang="en-US" sz="1750">
                  <a:solidFill>
                    <a:srgbClr val="D8D4C8"/>
                  </a:solidFill>
                  <a:latin typeface="Helvetica"/>
                  <a:ea typeface="Helvetica"/>
                  <a:cs typeface="Helvetica"/>
                  <a:sym typeface="Helvetica"/>
                </a:rPr>
                <a:t>Administrador</a:t>
              </a:r>
              <a:r>
                <a:rPr lang="en-US" sz="1750">
                  <a:solidFill>
                    <a:srgbClr val="D8D4C8"/>
                  </a:solidFill>
                  <a:latin typeface="Helvetica"/>
                  <a:ea typeface="Helvetica"/>
                  <a:cs typeface="Helvetica"/>
                  <a:sym typeface="Helvetica"/>
                </a:rPr>
                <a:t xml:space="preserve"> y </a:t>
              </a:r>
              <a:r>
                <a:rPr b="1" lang="en-US" sz="1750">
                  <a:solidFill>
                    <a:srgbClr val="D8D4C8"/>
                  </a:solidFill>
                  <a:latin typeface="Helvetica"/>
                  <a:ea typeface="Helvetica"/>
                  <a:cs typeface="Helvetica"/>
                  <a:sym typeface="Helvetica"/>
                </a:rPr>
                <a:t>Empleado</a:t>
              </a:r>
              <a:r>
                <a:rPr lang="en-US" sz="1750">
                  <a:solidFill>
                    <a:srgbClr val="D8D4C8"/>
                  </a:solidFill>
                  <a:latin typeface="Helvetica"/>
                  <a:ea typeface="Helvetica"/>
                  <a:cs typeface="Helvetica"/>
                  <a:sym typeface="Helvetica"/>
                </a:rPr>
                <a:t>.</a:t>
              </a:r>
            </a:p>
            <a:p>
              <a:pPr algn="l">
                <a:lnSpc>
                  <a:spcPts val="2135"/>
                </a:lnSpc>
                <a:spcAft>
                  <a:spcPts val="200"/>
                </a:spcAft>
              </a:pPr>
              <a:r>
                <a:rPr lang="en-US" sz="1750">
                  <a:solidFill>
                    <a:srgbClr val="D8D4C8"/>
                  </a:solidFill>
                  <a:latin typeface="Helvetica"/>
                  <a:ea typeface="Helvetica"/>
                  <a:cs typeface="Helvetica"/>
                  <a:sym typeface="Helvetica"/>
                </a:rPr>
                <a:t xml:space="preserve">Validación de datos con </a:t>
              </a:r>
              <a:r>
                <a:rPr b="1" lang="en-US" sz="1750">
                  <a:solidFill>
                    <a:srgbClr val="D8D4C8"/>
                  </a:solidFill>
                  <a:latin typeface="Helvetica"/>
                  <a:ea typeface="Helvetica"/>
                  <a:cs typeface="Helvetica"/>
                  <a:sym typeface="Helvetica"/>
                </a:rPr>
                <a:t>Zod</a:t>
              </a:r>
              <a:r>
                <a:rPr lang="en-US" sz="1750">
                  <a:solidFill>
                    <a:srgbClr val="D8D4C8"/>
                  </a:solidFill>
                  <a:latin typeface="Helvetica"/>
                  <a:ea typeface="Helvetica"/>
                  <a:cs typeface="Helvetica"/>
                  <a:sym typeface="Helvetica"/>
                </a:rPr>
                <a:t>.</a:t>
              </a:r>
            </a:p>
            <a:p>
              <a:pPr algn="l">
                <a:lnSpc>
                  <a:spcPts val="2135"/>
                </a:lnSpc>
                <a:spcAft>
                  <a:spcPts val="200"/>
                </a:spcAft>
              </a:pPr>
              <a:r>
                <a:rPr b="1" lang="en-US" sz="1750">
                  <a:solidFill>
                    <a:srgbClr val="D8D4C8"/>
                  </a:solidFill>
                  <a:latin typeface="Helvetica"/>
                  <a:ea typeface="Helvetica"/>
                  <a:cs typeface="Helvetica"/>
                  <a:sym typeface="Helvetica"/>
                </a:rPr>
                <a:t>Helmet</a:t>
              </a:r>
              <a:r>
                <a:rPr lang="en-US" sz="1750">
                  <a:solidFill>
                    <a:srgbClr val="D8D4C8"/>
                  </a:solidFill>
                  <a:latin typeface="Helvetica"/>
                  <a:ea typeface="Helvetica"/>
                  <a:cs typeface="Helvetica"/>
                  <a:sym typeface="Helvetica"/>
                </a:rPr>
                <a:t>, CORS y límite de intentos.</a:t>
              </a:r>
            </a:p>
            <a:p>
              <a:pPr algn="l">
                <a:lnSpc>
                  <a:spcPts val="2135"/>
                </a:lnSpc>
                <a:spcAft>
                  <a:spcPts val="200"/>
                </a:spcAft>
              </a:pPr>
              <a:r>
                <a:rPr lang="en-US" sz="1750">
                  <a:solidFill>
                    <a:srgbClr val="D8D4C8"/>
                  </a:solidFill>
                  <a:latin typeface="Helvetica"/>
                  <a:ea typeface="Helvetica"/>
                  <a:cs typeface="Helvetica"/>
                  <a:sym typeface="Helvetica"/>
                </a:rPr>
                <a:t>Stock nunca negativo (operación atómica).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219200" y="9290685"/>
            <a:ext cx="1177290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A7179"/>
                </a:solidFill>
                <a:latin typeface="Helvetica"/>
                <a:ea typeface="Helvetica"/>
                <a:cs typeface="Helvetica"/>
                <a:sym typeface="Helvetica"/>
              </a:rPr>
              <a:t>Sustentación · Gestión del Conocimiento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171575"/>
            <a:ext cx="16325088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>
                <a:solidFill>
                  <a:srgbClr val="00482B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ASPECTO 5 DE 7 · ESCALA 0.5 A 5.0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718310"/>
            <a:ext cx="16325088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>
                <a:solidFill>
                  <a:srgbClr val="DAAA00"/>
                </a:solidFill>
                <a:latin typeface="Georgia"/>
                <a:ea typeface="Georgia"/>
                <a:cs typeface="Georgia"/>
                <a:sym typeface="Georgia"/>
              </a:rPr>
              <a:t>Gestión del conocimiento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19200" y="2967990"/>
            <a:ext cx="7772400" cy="5795010"/>
            <a:chOff x="0" y="0"/>
            <a:chExt cx="10363200" cy="77266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363200" cy="7726680"/>
            </a:xfrm>
            <a:custGeom>
              <a:avLst/>
              <a:gdLst/>
              <a:ahLst/>
              <a:cxnLst/>
              <a:rect r="r" b="b" t="t" l="l"/>
              <a:pathLst>
                <a:path h="7726680" w="10363200">
                  <a:moveTo>
                    <a:pt x="0" y="197231"/>
                  </a:moveTo>
                  <a:cubicBezTo>
                    <a:pt x="0" y="88265"/>
                    <a:pt x="88265" y="0"/>
                    <a:pt x="197231" y="0"/>
                  </a:cubicBezTo>
                  <a:lnTo>
                    <a:pt x="10165969" y="0"/>
                  </a:lnTo>
                  <a:cubicBezTo>
                    <a:pt x="10274935" y="0"/>
                    <a:pt x="10363200" y="88265"/>
                    <a:pt x="10363200" y="197231"/>
                  </a:cubicBezTo>
                  <a:lnTo>
                    <a:pt x="10363200" y="7529449"/>
                  </a:lnTo>
                  <a:cubicBezTo>
                    <a:pt x="10363200" y="7638288"/>
                    <a:pt x="10274935" y="7726680"/>
                    <a:pt x="10165969" y="7726680"/>
                  </a:cubicBezTo>
                  <a:lnTo>
                    <a:pt x="197231" y="7726680"/>
                  </a:lnTo>
                  <a:cubicBezTo>
                    <a:pt x="88265" y="7726680"/>
                    <a:pt x="0" y="7638415"/>
                    <a:pt x="0" y="7529449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D6C8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684020" y="3385185"/>
            <a:ext cx="7048043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>
                <a:solidFill>
                  <a:srgbClr val="00482B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5.1 · Valor 2.5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84020" y="3903345"/>
            <a:ext cx="7048043" cy="47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DAAA00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Información actualizada y precisa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684020" y="4495800"/>
            <a:ext cx="6842760" cy="3802380"/>
            <a:chOff x="0" y="0"/>
            <a:chExt cx="9123680" cy="5069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23680" cy="5069840"/>
            </a:xfrm>
            <a:custGeom>
              <a:avLst/>
              <a:gdLst/>
              <a:ahLst/>
              <a:cxnLst/>
              <a:rect r="r" b="b" t="t" l="l"/>
              <a:pathLst>
                <a:path h="5069840" w="9123680">
                  <a:moveTo>
                    <a:pt x="0" y="140335"/>
                  </a:moveTo>
                  <a:cubicBezTo>
                    <a:pt x="0" y="62865"/>
                    <a:pt x="62865" y="0"/>
                    <a:pt x="140335" y="0"/>
                  </a:cubicBezTo>
                  <a:lnTo>
                    <a:pt x="8983345" y="0"/>
                  </a:lnTo>
                  <a:cubicBezTo>
                    <a:pt x="9060814" y="0"/>
                    <a:pt x="9123680" y="62865"/>
                    <a:pt x="9123680" y="140335"/>
                  </a:cubicBezTo>
                  <a:lnTo>
                    <a:pt x="9123680" y="4929505"/>
                  </a:lnTo>
                  <a:cubicBezTo>
                    <a:pt x="9123680" y="5006975"/>
                    <a:pt x="9060814" y="5069840"/>
                    <a:pt x="8983345" y="5069840"/>
                  </a:cubicBezTo>
                  <a:lnTo>
                    <a:pt x="140335" y="5069840"/>
                  </a:lnTo>
                  <a:cubicBezTo>
                    <a:pt x="62865" y="5069840"/>
                    <a:pt x="0" y="5006975"/>
                    <a:pt x="0" y="4929505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95" t="0" r="-21295" b="0"/>
              </a:stretch>
            </a:blipFill>
            <a:ln w="19050" cap="sq">
              <a:solidFill>
                <a:srgbClr val="C9C1AE"/>
              </a:solidFill>
              <a:prstDash val="dash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9123680" cy="512699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562"/>
                </a:lnSpc>
                <a:spcAft>
                  <a:spcPts val="300"/>
                </a:spcAft>
              </a:pPr>
              <a:r>
                <a:rPr b="1" lang="en-US" sz="2100">
                  <a:solidFill>
                    <a:srgbClr val="00482B"/>
                  </a:solidFill>
                  <a:latin typeface="Helvetica"/>
                  <a:ea typeface="Helvetica"/>
                  <a:cs typeface="Helvetica"/>
                  <a:sym typeface="Helvetica"/>
                </a:rPr>
                <a:t>Fuente primaria:</a:t>
              </a:r>
              <a:r>
                <a:rPr lang="en-US" sz="210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 xml:space="preserve"> cada venta y entrega se registra con usuario, fecha y hora.</a:t>
              </a:r>
            </a:p>
            <a:p>
              <a:pPr algn="l">
                <a:lnSpc>
                  <a:spcPts val="2562"/>
                </a:lnSpc>
                <a:spcAft>
                  <a:spcPts val="300"/>
                </a:spcAft>
              </a:pPr>
              <a:r>
                <a:rPr b="1" lang="en-US" sz="2100">
                  <a:solidFill>
                    <a:srgbClr val="00482B"/>
                  </a:solidFill>
                  <a:latin typeface="Helvetica"/>
                  <a:ea typeface="Helvetica"/>
                  <a:cs typeface="Helvetica"/>
                  <a:sym typeface="Helvetica"/>
                </a:rPr>
                <a:t>Vigente:</a:t>
              </a:r>
              <a:r>
                <a:rPr lang="en-US" sz="210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 xml:space="preserve"> indicadores recalculados en cada consulta, en hora de Colombia.</a:t>
              </a:r>
            </a:p>
            <a:p>
              <a:pPr algn="l">
                <a:lnSpc>
                  <a:spcPts val="2562"/>
                </a:lnSpc>
                <a:spcAft>
                  <a:spcPts val="300"/>
                </a:spcAft>
              </a:pPr>
              <a:r>
                <a:rPr b="1" lang="en-US" sz="2100">
                  <a:solidFill>
                    <a:srgbClr val="00482B"/>
                  </a:solidFill>
                  <a:latin typeface="Helvetica"/>
                  <a:ea typeface="Helvetica"/>
                  <a:cs typeface="Helvetica"/>
                  <a:sym typeface="Helvetica"/>
                </a:rPr>
                <a:t>Verificado:</a:t>
              </a:r>
              <a:r>
                <a:rPr lang="en-US" sz="210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 xml:space="preserve"> las fórmulas se prueban con 27 pruebas automáticas; los datos se validan antes de guardarse.</a:t>
              </a:r>
            </a:p>
            <a:p>
              <a:pPr algn="l">
                <a:lnSpc>
                  <a:spcPts val="2562"/>
                </a:lnSpc>
                <a:spcAft>
                  <a:spcPts val="300"/>
                </a:spcAft>
              </a:pPr>
              <a:r>
                <a:rPr b="1" lang="en-US" sz="2100">
                  <a:solidFill>
                    <a:srgbClr val="00482B"/>
                  </a:solidFill>
                  <a:latin typeface="Helvetica"/>
                  <a:ea typeface="Helvetica"/>
                  <a:cs typeface="Helvetica"/>
                  <a:sym typeface="Helvetica"/>
                </a:rPr>
                <a:t>Auditable:</a:t>
              </a:r>
              <a:r>
                <a:rPr lang="en-US" sz="210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 xml:space="preserve"> historial de cumplimiento por proveedor.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2967990"/>
            <a:ext cx="7772400" cy="5795010"/>
            <a:chOff x="0" y="0"/>
            <a:chExt cx="10363200" cy="77266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363200" cy="7726680"/>
            </a:xfrm>
            <a:custGeom>
              <a:avLst/>
              <a:gdLst/>
              <a:ahLst/>
              <a:cxnLst/>
              <a:rect r="r" b="b" t="t" l="l"/>
              <a:pathLst>
                <a:path h="7726680" w="10363200">
                  <a:moveTo>
                    <a:pt x="0" y="197231"/>
                  </a:moveTo>
                  <a:cubicBezTo>
                    <a:pt x="0" y="88265"/>
                    <a:pt x="88265" y="0"/>
                    <a:pt x="197231" y="0"/>
                  </a:cubicBezTo>
                  <a:lnTo>
                    <a:pt x="10165969" y="0"/>
                  </a:lnTo>
                  <a:cubicBezTo>
                    <a:pt x="10274935" y="0"/>
                    <a:pt x="10363200" y="88265"/>
                    <a:pt x="10363200" y="197231"/>
                  </a:cubicBezTo>
                  <a:lnTo>
                    <a:pt x="10363200" y="7529449"/>
                  </a:lnTo>
                  <a:cubicBezTo>
                    <a:pt x="10363200" y="7638288"/>
                    <a:pt x="10274935" y="7726680"/>
                    <a:pt x="10165969" y="7726680"/>
                  </a:cubicBezTo>
                  <a:lnTo>
                    <a:pt x="197231" y="7726680"/>
                  </a:lnTo>
                  <a:cubicBezTo>
                    <a:pt x="88265" y="7726680"/>
                    <a:pt x="0" y="7638415"/>
                    <a:pt x="0" y="7529449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D6C8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9761220" y="3385185"/>
            <a:ext cx="7048043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>
                <a:solidFill>
                  <a:srgbClr val="00482B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5.2 · Valor 2.5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61220" y="3903345"/>
            <a:ext cx="7048043" cy="88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DAAA00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Procesos de actualización del conocimiento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761220" y="4907280"/>
            <a:ext cx="6842760" cy="3390900"/>
            <a:chOff x="0" y="0"/>
            <a:chExt cx="9123680" cy="4521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23680" cy="4521200"/>
            </a:xfrm>
            <a:custGeom>
              <a:avLst/>
              <a:gdLst/>
              <a:ahLst/>
              <a:cxnLst/>
              <a:rect r="r" b="b" t="t" l="l"/>
              <a:pathLst>
                <a:path h="4521200" w="9123680">
                  <a:moveTo>
                    <a:pt x="0" y="140462"/>
                  </a:moveTo>
                  <a:cubicBezTo>
                    <a:pt x="0" y="62865"/>
                    <a:pt x="62865" y="0"/>
                    <a:pt x="140462" y="0"/>
                  </a:cubicBezTo>
                  <a:lnTo>
                    <a:pt x="8983218" y="0"/>
                  </a:lnTo>
                  <a:cubicBezTo>
                    <a:pt x="9060815" y="0"/>
                    <a:pt x="9123680" y="62865"/>
                    <a:pt x="9123680" y="140462"/>
                  </a:cubicBezTo>
                  <a:lnTo>
                    <a:pt x="9123680" y="4380738"/>
                  </a:lnTo>
                  <a:cubicBezTo>
                    <a:pt x="9123680" y="4458335"/>
                    <a:pt x="9060815" y="4521200"/>
                    <a:pt x="8983218" y="4521200"/>
                  </a:cubicBezTo>
                  <a:lnTo>
                    <a:pt x="140462" y="4521200"/>
                  </a:lnTo>
                  <a:cubicBezTo>
                    <a:pt x="62865" y="4521200"/>
                    <a:pt x="0" y="4458335"/>
                    <a:pt x="0" y="4380738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580" t="0" r="-13580" b="0"/>
              </a:stretch>
            </a:blipFill>
            <a:ln w="19050" cap="sq">
              <a:solidFill>
                <a:srgbClr val="C9C1AE"/>
              </a:solidFill>
              <a:prstDash val="dash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9123680" cy="457835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562"/>
                </a:lnSpc>
                <a:spcAft>
                  <a:spcPts val="300"/>
                </a:spcAft>
              </a:pPr>
              <a:r>
                <a:rPr b="1" lang="en-US" sz="2100">
                  <a:solidFill>
                    <a:srgbClr val="00482B"/>
                  </a:solidFill>
                  <a:latin typeface="Helvetica"/>
                  <a:ea typeface="Helvetica"/>
                  <a:cs typeface="Helvetica"/>
                  <a:sym typeface="Helvetica"/>
                </a:rPr>
                <a:t>Empleado:</a:t>
              </a:r>
              <a:r>
                <a:rPr lang="en-US" sz="210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 xml:space="preserve"> registra ventas y entregas al momento.</a:t>
              </a:r>
            </a:p>
            <a:p>
              <a:pPr algn="l">
                <a:lnSpc>
                  <a:spcPts val="2562"/>
                </a:lnSpc>
                <a:spcAft>
                  <a:spcPts val="300"/>
                </a:spcAft>
              </a:pPr>
              <a:r>
                <a:rPr b="1" lang="en-US" sz="2100">
                  <a:solidFill>
                    <a:srgbClr val="00482B"/>
                  </a:solidFill>
                  <a:latin typeface="Helvetica"/>
                  <a:ea typeface="Helvetica"/>
                  <a:cs typeface="Helvetica"/>
                  <a:sym typeface="Helvetica"/>
                </a:rPr>
                <a:t>Sistema:</a:t>
              </a:r>
              <a:r>
                <a:rPr lang="en-US" sz="210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 xml:space="preserve"> recalcula semáforo y % del proveedor con cada movimiento.</a:t>
              </a:r>
            </a:p>
            <a:p>
              <a:pPr algn="l">
                <a:lnSpc>
                  <a:spcPts val="2562"/>
                </a:lnSpc>
                <a:spcAft>
                  <a:spcPts val="300"/>
                </a:spcAft>
              </a:pPr>
              <a:r>
                <a:rPr b="1" lang="en-US" sz="2100">
                  <a:solidFill>
                    <a:srgbClr val="00482B"/>
                  </a:solidFill>
                  <a:latin typeface="Helvetica"/>
                  <a:ea typeface="Helvetica"/>
                  <a:cs typeface="Helvetica"/>
                  <a:sym typeface="Helvetica"/>
                </a:rPr>
                <a:t>Administrador:</a:t>
              </a:r>
              <a:r>
                <a:rPr lang="en-US" sz="210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 xml:space="preserve"> revisa alertas a diario, actualiza catálogo y usuarios, ajusta umbrales.</a:t>
              </a:r>
            </a:p>
            <a:p>
              <a:pPr algn="l">
                <a:lnSpc>
                  <a:spcPts val="2562"/>
                </a:lnSpc>
                <a:spcAft>
                  <a:spcPts val="300"/>
                </a:spcAft>
              </a:pPr>
              <a:r>
                <a:rPr b="1" lang="en-US" sz="2100">
                  <a:solidFill>
                    <a:srgbClr val="00482B"/>
                  </a:solidFill>
                  <a:latin typeface="Helvetica"/>
                  <a:ea typeface="Helvetica"/>
                  <a:cs typeface="Helvetica"/>
                  <a:sym typeface="Helvetica"/>
                </a:rPr>
                <a:t>Equipo:</a:t>
              </a:r>
              <a:r>
                <a:rPr lang="en-US" sz="210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 xml:space="preserve"> mejora las fórmulas con pruebas (8 correcciones documentadas).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19200" y="9290685"/>
            <a:ext cx="1177290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A7179"/>
                </a:solidFill>
                <a:latin typeface="Helvetica"/>
                <a:ea typeface="Helvetica"/>
                <a:cs typeface="Helvetica"/>
                <a:sym typeface="Helvetica"/>
              </a:rPr>
              <a:t>Sustentación · Gestión del Conocimiento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171575"/>
            <a:ext cx="16325088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>
                <a:solidFill>
                  <a:srgbClr val="00482B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ASPECTO 6 DE 7 · ESCALA 0.5 A 5.0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718310"/>
            <a:ext cx="16325088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>
                <a:solidFill>
                  <a:srgbClr val="DAAA00"/>
                </a:solidFill>
                <a:latin typeface="Georgia"/>
                <a:ea typeface="Georgia"/>
                <a:cs typeface="Georgia"/>
                <a:sym typeface="Georgia"/>
              </a:rPr>
              <a:t>Conclusiones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19200" y="2967990"/>
            <a:ext cx="7772400" cy="5795010"/>
            <a:chOff x="0" y="0"/>
            <a:chExt cx="10363200" cy="77266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363200" cy="7726680"/>
            </a:xfrm>
            <a:custGeom>
              <a:avLst/>
              <a:gdLst/>
              <a:ahLst/>
              <a:cxnLst/>
              <a:rect r="r" b="b" t="t" l="l"/>
              <a:pathLst>
                <a:path h="7726680" w="10363200">
                  <a:moveTo>
                    <a:pt x="0" y="197231"/>
                  </a:moveTo>
                  <a:cubicBezTo>
                    <a:pt x="0" y="88265"/>
                    <a:pt x="88265" y="0"/>
                    <a:pt x="197231" y="0"/>
                  </a:cubicBezTo>
                  <a:lnTo>
                    <a:pt x="10165969" y="0"/>
                  </a:lnTo>
                  <a:cubicBezTo>
                    <a:pt x="10274935" y="0"/>
                    <a:pt x="10363200" y="88265"/>
                    <a:pt x="10363200" y="197231"/>
                  </a:cubicBezTo>
                  <a:lnTo>
                    <a:pt x="10363200" y="7529449"/>
                  </a:lnTo>
                  <a:cubicBezTo>
                    <a:pt x="10363200" y="7638288"/>
                    <a:pt x="10274935" y="7726680"/>
                    <a:pt x="10165969" y="7726680"/>
                  </a:cubicBezTo>
                  <a:lnTo>
                    <a:pt x="197231" y="7726680"/>
                  </a:lnTo>
                  <a:cubicBezTo>
                    <a:pt x="88265" y="7726680"/>
                    <a:pt x="0" y="7638415"/>
                    <a:pt x="0" y="7529449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D6C8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684020" y="3385185"/>
            <a:ext cx="7048043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>
                <a:solidFill>
                  <a:srgbClr val="00482B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6.1 · Valor 3.0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84020" y="3903345"/>
            <a:ext cx="7048043" cy="88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DAAA00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Coherencia con el desarrollo de los objetivos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684020" y="4907280"/>
            <a:ext cx="6842760" cy="3390900"/>
            <a:chOff x="0" y="0"/>
            <a:chExt cx="9123680" cy="4521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23680" cy="4521200"/>
            </a:xfrm>
            <a:custGeom>
              <a:avLst/>
              <a:gdLst/>
              <a:ahLst/>
              <a:cxnLst/>
              <a:rect r="r" b="b" t="t" l="l"/>
              <a:pathLst>
                <a:path h="4521200" w="9123680">
                  <a:moveTo>
                    <a:pt x="0" y="140462"/>
                  </a:moveTo>
                  <a:cubicBezTo>
                    <a:pt x="0" y="62865"/>
                    <a:pt x="62865" y="0"/>
                    <a:pt x="140462" y="0"/>
                  </a:cubicBezTo>
                  <a:lnTo>
                    <a:pt x="8983218" y="0"/>
                  </a:lnTo>
                  <a:cubicBezTo>
                    <a:pt x="9060815" y="0"/>
                    <a:pt x="9123680" y="62865"/>
                    <a:pt x="9123680" y="140462"/>
                  </a:cubicBezTo>
                  <a:lnTo>
                    <a:pt x="9123680" y="4380738"/>
                  </a:lnTo>
                  <a:cubicBezTo>
                    <a:pt x="9123680" y="4458335"/>
                    <a:pt x="9060815" y="4521200"/>
                    <a:pt x="8983218" y="4521200"/>
                  </a:cubicBezTo>
                  <a:lnTo>
                    <a:pt x="140462" y="4521200"/>
                  </a:lnTo>
                  <a:cubicBezTo>
                    <a:pt x="62865" y="4521200"/>
                    <a:pt x="0" y="4458335"/>
                    <a:pt x="0" y="4380738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3580" t="0" r="-13580" b="0"/>
              </a:stretch>
            </a:blipFill>
            <a:ln w="19050" cap="sq">
              <a:solidFill>
                <a:srgbClr val="C9C1AE"/>
              </a:solidFill>
              <a:prstDash val="dash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9123680" cy="457835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684"/>
                </a:lnSpc>
                <a:spcAft>
                  <a:spcPts val="300"/>
                </a:spcAft>
              </a:pPr>
              <a:r>
                <a:rPr b="1" lang="en-US" sz="2200">
                  <a:solidFill>
                    <a:srgbClr val="00482B"/>
                  </a:solidFill>
                  <a:latin typeface="Helvetica"/>
                  <a:ea typeface="Helvetica"/>
                  <a:cs typeface="Helvetica"/>
                  <a:sym typeface="Helvetica"/>
                </a:rPr>
                <a:t>1. Registrar:</a:t>
              </a:r>
              <a:r>
                <a:rPr lang="en-US" sz="220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 xml:space="preserve"> movimientos con roles y stock siempre ≥ 0.</a:t>
              </a:r>
            </a:p>
            <a:p>
              <a:pPr algn="l">
                <a:lnSpc>
                  <a:spcPts val="2684"/>
                </a:lnSpc>
                <a:spcAft>
                  <a:spcPts val="300"/>
                </a:spcAft>
              </a:pPr>
              <a:r>
                <a:rPr b="1" lang="en-US" sz="2200">
                  <a:solidFill>
                    <a:srgbClr val="00482B"/>
                  </a:solidFill>
                  <a:latin typeface="Helvetica"/>
                  <a:ea typeface="Helvetica"/>
                  <a:cs typeface="Helvetica"/>
                  <a:sym typeface="Helvetica"/>
                </a:rPr>
                <a:t>2. Modelar:</a:t>
              </a:r>
              <a:r>
                <a:rPr lang="en-US" sz="220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 xml:space="preserve"> la serie I(t) se reconstruye y grafica en el dashboard.</a:t>
              </a:r>
            </a:p>
            <a:p>
              <a:pPr algn="l">
                <a:lnSpc>
                  <a:spcPts val="2684"/>
                </a:lnSpc>
                <a:spcAft>
                  <a:spcPts val="300"/>
                </a:spcAft>
              </a:pPr>
              <a:r>
                <a:rPr b="1" lang="en-US" sz="2200">
                  <a:solidFill>
                    <a:srgbClr val="00482B"/>
                  </a:solidFill>
                  <a:latin typeface="Helvetica"/>
                  <a:ea typeface="Helvetica"/>
                  <a:cs typeface="Helvetica"/>
                  <a:sym typeface="Helvetica"/>
                </a:rPr>
                <a:t>3. Alertar:</a:t>
              </a:r>
              <a:r>
                <a:rPr lang="en-US" sz="220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 xml:space="preserve"> semáforo por días (mantequilla: 18 und ÷ 9 por día = 2 días → ROJO).</a:t>
              </a:r>
            </a:p>
            <a:p>
              <a:pPr algn="l">
                <a:lnSpc>
                  <a:spcPts val="2684"/>
                </a:lnSpc>
                <a:spcAft>
                  <a:spcPts val="300"/>
                </a:spcAft>
              </a:pPr>
              <a:r>
                <a:rPr b="1" lang="en-US" sz="2200">
                  <a:solidFill>
                    <a:srgbClr val="00482B"/>
                  </a:solidFill>
                  <a:latin typeface="Helvetica"/>
                  <a:ea typeface="Helvetica"/>
                  <a:cs typeface="Helvetica"/>
                  <a:sym typeface="Helvetica"/>
                </a:rPr>
                <a:t>4. Evaluar:</a:t>
              </a:r>
              <a:r>
                <a:rPr lang="en-US" sz="220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 xml:space="preserve"> % con tope por pedido (150/100 y 50/100 = 75 %).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2967990"/>
            <a:ext cx="7772400" cy="5795010"/>
            <a:chOff x="0" y="0"/>
            <a:chExt cx="10363200" cy="77266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363200" cy="7726680"/>
            </a:xfrm>
            <a:custGeom>
              <a:avLst/>
              <a:gdLst/>
              <a:ahLst/>
              <a:cxnLst/>
              <a:rect r="r" b="b" t="t" l="l"/>
              <a:pathLst>
                <a:path h="7726680" w="10363200">
                  <a:moveTo>
                    <a:pt x="0" y="197231"/>
                  </a:moveTo>
                  <a:cubicBezTo>
                    <a:pt x="0" y="88265"/>
                    <a:pt x="88265" y="0"/>
                    <a:pt x="197231" y="0"/>
                  </a:cubicBezTo>
                  <a:lnTo>
                    <a:pt x="10165969" y="0"/>
                  </a:lnTo>
                  <a:cubicBezTo>
                    <a:pt x="10274935" y="0"/>
                    <a:pt x="10363200" y="88265"/>
                    <a:pt x="10363200" y="197231"/>
                  </a:cubicBezTo>
                  <a:lnTo>
                    <a:pt x="10363200" y="7529449"/>
                  </a:lnTo>
                  <a:cubicBezTo>
                    <a:pt x="10363200" y="7638288"/>
                    <a:pt x="10274935" y="7726680"/>
                    <a:pt x="10165969" y="7726680"/>
                  </a:cubicBezTo>
                  <a:lnTo>
                    <a:pt x="197231" y="7726680"/>
                  </a:lnTo>
                  <a:cubicBezTo>
                    <a:pt x="88265" y="7726680"/>
                    <a:pt x="0" y="7638415"/>
                    <a:pt x="0" y="7529449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D6C8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9761220" y="3385185"/>
            <a:ext cx="7048043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>
                <a:solidFill>
                  <a:srgbClr val="00482B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6.2 · Valor 2.0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761220" y="3903345"/>
            <a:ext cx="7048043" cy="47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DAAA00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Aportes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761220" y="4495800"/>
            <a:ext cx="6842760" cy="3802380"/>
            <a:chOff x="0" y="0"/>
            <a:chExt cx="9123680" cy="50698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23680" cy="5069840"/>
            </a:xfrm>
            <a:custGeom>
              <a:avLst/>
              <a:gdLst/>
              <a:ahLst/>
              <a:cxnLst/>
              <a:rect r="r" b="b" t="t" l="l"/>
              <a:pathLst>
                <a:path h="5069840" w="9123680">
                  <a:moveTo>
                    <a:pt x="0" y="140335"/>
                  </a:moveTo>
                  <a:cubicBezTo>
                    <a:pt x="0" y="62865"/>
                    <a:pt x="62865" y="0"/>
                    <a:pt x="140335" y="0"/>
                  </a:cubicBezTo>
                  <a:lnTo>
                    <a:pt x="8983345" y="0"/>
                  </a:lnTo>
                  <a:cubicBezTo>
                    <a:pt x="9060814" y="0"/>
                    <a:pt x="9123680" y="62865"/>
                    <a:pt x="9123680" y="140335"/>
                  </a:cubicBezTo>
                  <a:lnTo>
                    <a:pt x="9123680" y="4929505"/>
                  </a:lnTo>
                  <a:cubicBezTo>
                    <a:pt x="9123680" y="5006975"/>
                    <a:pt x="9060814" y="5069840"/>
                    <a:pt x="8983345" y="5069840"/>
                  </a:cubicBezTo>
                  <a:lnTo>
                    <a:pt x="140335" y="5069840"/>
                  </a:lnTo>
                  <a:cubicBezTo>
                    <a:pt x="62865" y="5069840"/>
                    <a:pt x="0" y="5006975"/>
                    <a:pt x="0" y="4929505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1295" t="0" r="-21295" b="0"/>
              </a:stretch>
            </a:blipFill>
            <a:ln w="19050" cap="sq">
              <a:solidFill>
                <a:srgbClr val="C9C1AE"/>
              </a:solidFill>
              <a:prstDash val="dash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9123680" cy="512699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684"/>
                </a:lnSpc>
                <a:spcAft>
                  <a:spcPts val="300"/>
                </a:spcAft>
              </a:pPr>
              <a:r>
                <a:rPr b="1" lang="en-US" sz="2200">
                  <a:solidFill>
                    <a:srgbClr val="00482B"/>
                  </a:solidFill>
                  <a:latin typeface="Helvetica"/>
                  <a:ea typeface="Helvetica"/>
                  <a:cs typeface="Helvetica"/>
                  <a:sym typeface="Helvetica"/>
                </a:rPr>
                <a:t>Tienda:</a:t>
              </a:r>
              <a:r>
                <a:rPr lang="en-US" sz="220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 xml:space="preserve"> anticipa quiebres y negocia con proveedores con evidencia.</a:t>
              </a:r>
            </a:p>
            <a:p>
              <a:pPr algn="l">
                <a:lnSpc>
                  <a:spcPts val="2684"/>
                </a:lnSpc>
                <a:spcAft>
                  <a:spcPts val="300"/>
                </a:spcAft>
              </a:pPr>
              <a:r>
                <a:rPr b="1" lang="en-US" sz="2200">
                  <a:solidFill>
                    <a:srgbClr val="00482B"/>
                  </a:solidFill>
                  <a:latin typeface="Helvetica"/>
                  <a:ea typeface="Helvetica"/>
                  <a:cs typeface="Helvetica"/>
                  <a:sym typeface="Helvetica"/>
                </a:rPr>
                <a:t>Organización:</a:t>
              </a:r>
              <a:r>
                <a:rPr lang="en-US" sz="220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 xml:space="preserve"> el conocimiento del encargado queda registrado y compartido.</a:t>
              </a:r>
            </a:p>
            <a:p>
              <a:pPr algn="l">
                <a:lnSpc>
                  <a:spcPts val="2684"/>
                </a:lnSpc>
                <a:spcAft>
                  <a:spcPts val="300"/>
                </a:spcAft>
              </a:pPr>
              <a:r>
                <a:rPr b="1" lang="en-US" sz="2200">
                  <a:solidFill>
                    <a:srgbClr val="00482B"/>
                  </a:solidFill>
                  <a:latin typeface="Helvetica"/>
                  <a:ea typeface="Helvetica"/>
                  <a:cs typeface="Helvetica"/>
                  <a:sym typeface="Helvetica"/>
                </a:rPr>
                <a:t>Disciplina:</a:t>
              </a:r>
              <a:r>
                <a:rPr lang="en-US" sz="220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 xml:space="preserve"> muestra cómo un modelo matemático sencillo soporta la gestión del conocimiento.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19200" y="9290685"/>
            <a:ext cx="1177290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A7179"/>
                </a:solidFill>
                <a:latin typeface="Helvetica"/>
                <a:ea typeface="Helvetica"/>
                <a:cs typeface="Helvetica"/>
                <a:sym typeface="Helvetica"/>
              </a:rPr>
              <a:t>Sustentación · Gestión del Conocimiento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4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171575"/>
            <a:ext cx="16325088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>
                <a:solidFill>
                  <a:srgbClr val="00482B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ASPECTO 7 DE 7 · ESCALA 0.5 A 5.0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718310"/>
            <a:ext cx="16325088" cy="75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sz="5400">
                <a:solidFill>
                  <a:srgbClr val="DAAA00"/>
                </a:solidFill>
                <a:latin typeface="Georgia"/>
                <a:ea typeface="Georgia"/>
                <a:cs typeface="Georgia"/>
                <a:sym typeface="Georgia"/>
              </a:rPr>
              <a:t>Metodología y socialización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19200" y="2967990"/>
            <a:ext cx="3737610" cy="5795010"/>
            <a:chOff x="0" y="0"/>
            <a:chExt cx="4983480" cy="77266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983480" cy="7726680"/>
            </a:xfrm>
            <a:custGeom>
              <a:avLst/>
              <a:gdLst/>
              <a:ahLst/>
              <a:cxnLst/>
              <a:rect r="r" b="b" t="t" l="l"/>
              <a:pathLst>
                <a:path h="7726680" w="4983480">
                  <a:moveTo>
                    <a:pt x="0" y="197358"/>
                  </a:moveTo>
                  <a:cubicBezTo>
                    <a:pt x="0" y="88392"/>
                    <a:pt x="88392" y="0"/>
                    <a:pt x="197358" y="0"/>
                  </a:cubicBezTo>
                  <a:lnTo>
                    <a:pt x="4786122" y="0"/>
                  </a:lnTo>
                  <a:cubicBezTo>
                    <a:pt x="4895088" y="0"/>
                    <a:pt x="4983480" y="88392"/>
                    <a:pt x="4983480" y="197358"/>
                  </a:cubicBezTo>
                  <a:lnTo>
                    <a:pt x="4983480" y="7529322"/>
                  </a:lnTo>
                  <a:cubicBezTo>
                    <a:pt x="4983480" y="7638288"/>
                    <a:pt x="4895088" y="7726680"/>
                    <a:pt x="4786122" y="7726680"/>
                  </a:cubicBezTo>
                  <a:lnTo>
                    <a:pt x="197358" y="7726680"/>
                  </a:lnTo>
                  <a:cubicBezTo>
                    <a:pt x="88392" y="7726680"/>
                    <a:pt x="0" y="7638288"/>
                    <a:pt x="0" y="7529322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D6C8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607820" y="3308985"/>
            <a:ext cx="3049181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>
                <a:solidFill>
                  <a:srgbClr val="00482B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7.1 · Valor 1.0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07820" y="3827145"/>
            <a:ext cx="3049181" cy="88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DAAA00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Presentación personal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607820" y="4831080"/>
            <a:ext cx="2960370" cy="3543300"/>
            <a:chOff x="0" y="0"/>
            <a:chExt cx="3947160" cy="472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47160" cy="4724400"/>
            </a:xfrm>
            <a:custGeom>
              <a:avLst/>
              <a:gdLst/>
              <a:ahLst/>
              <a:cxnLst/>
              <a:rect r="r" b="b" t="t" l="l"/>
              <a:pathLst>
                <a:path h="4724400" w="3947160">
                  <a:moveTo>
                    <a:pt x="0" y="140589"/>
                  </a:moveTo>
                  <a:cubicBezTo>
                    <a:pt x="0" y="62992"/>
                    <a:pt x="62992" y="0"/>
                    <a:pt x="140589" y="0"/>
                  </a:cubicBezTo>
                  <a:lnTo>
                    <a:pt x="3806571" y="0"/>
                  </a:lnTo>
                  <a:cubicBezTo>
                    <a:pt x="3884168" y="0"/>
                    <a:pt x="3947160" y="62992"/>
                    <a:pt x="3947160" y="140589"/>
                  </a:cubicBezTo>
                  <a:lnTo>
                    <a:pt x="3947160" y="4583811"/>
                  </a:lnTo>
                  <a:cubicBezTo>
                    <a:pt x="3947160" y="4661408"/>
                    <a:pt x="3884168" y="4724400"/>
                    <a:pt x="3806571" y="4724400"/>
                  </a:cubicBezTo>
                  <a:lnTo>
                    <a:pt x="140589" y="4724400"/>
                  </a:lnTo>
                  <a:cubicBezTo>
                    <a:pt x="62992" y="4724400"/>
                    <a:pt x="0" y="4661408"/>
                    <a:pt x="0" y="4583811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567" t="0" r="-103567" b="0"/>
              </a:stretch>
            </a:blipFill>
            <a:ln w="19050" cap="sq">
              <a:solidFill>
                <a:srgbClr val="C9C1AE"/>
              </a:solidFill>
              <a:prstDash val="dash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947160" cy="477202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196"/>
                </a:lnSpc>
                <a:spcAft>
                  <a:spcPts val="200"/>
                </a:spcAft>
              </a:pPr>
              <a:r>
                <a:rPr lang="en-US" sz="180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>Ambos formal casual: camisa clara y pantalón oscuro.</a:t>
              </a:r>
            </a:p>
            <a:p>
              <a:pPr algn="l">
                <a:lnSpc>
                  <a:spcPts val="2196"/>
                </a:lnSpc>
                <a:spcAft>
                  <a:spcPts val="200"/>
                </a:spcAft>
              </a:pPr>
              <a:r>
                <a:rPr lang="en-US" sz="180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>Llegar 15 min antes y probar equipo y demo.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261610" y="2967990"/>
            <a:ext cx="3737610" cy="5795010"/>
            <a:chOff x="0" y="0"/>
            <a:chExt cx="4983480" cy="77266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983480" cy="7726680"/>
            </a:xfrm>
            <a:custGeom>
              <a:avLst/>
              <a:gdLst/>
              <a:ahLst/>
              <a:cxnLst/>
              <a:rect r="r" b="b" t="t" l="l"/>
              <a:pathLst>
                <a:path h="7726680" w="4983480">
                  <a:moveTo>
                    <a:pt x="0" y="197358"/>
                  </a:moveTo>
                  <a:cubicBezTo>
                    <a:pt x="0" y="88392"/>
                    <a:pt x="88392" y="0"/>
                    <a:pt x="197358" y="0"/>
                  </a:cubicBezTo>
                  <a:lnTo>
                    <a:pt x="4786122" y="0"/>
                  </a:lnTo>
                  <a:cubicBezTo>
                    <a:pt x="4895088" y="0"/>
                    <a:pt x="4983480" y="88392"/>
                    <a:pt x="4983480" y="197358"/>
                  </a:cubicBezTo>
                  <a:lnTo>
                    <a:pt x="4983480" y="7529322"/>
                  </a:lnTo>
                  <a:cubicBezTo>
                    <a:pt x="4983480" y="7638288"/>
                    <a:pt x="4895088" y="7726680"/>
                    <a:pt x="4786122" y="7726680"/>
                  </a:cubicBezTo>
                  <a:lnTo>
                    <a:pt x="197358" y="7726680"/>
                  </a:lnTo>
                  <a:cubicBezTo>
                    <a:pt x="88392" y="7726680"/>
                    <a:pt x="0" y="7638288"/>
                    <a:pt x="0" y="7529322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D6C8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5650230" y="3308985"/>
            <a:ext cx="3049181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>
                <a:solidFill>
                  <a:srgbClr val="00482B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7.2 · Valor 1.0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650230" y="3827145"/>
            <a:ext cx="3339465" cy="47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DAAA00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Dominio de grupo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650230" y="4419600"/>
            <a:ext cx="2960370" cy="3954780"/>
            <a:chOff x="0" y="0"/>
            <a:chExt cx="3947160" cy="52730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947160" cy="5273040"/>
            </a:xfrm>
            <a:custGeom>
              <a:avLst/>
              <a:gdLst/>
              <a:ahLst/>
              <a:cxnLst/>
              <a:rect r="r" b="b" t="t" l="l"/>
              <a:pathLst>
                <a:path h="5273040" w="3947160">
                  <a:moveTo>
                    <a:pt x="0" y="140589"/>
                  </a:moveTo>
                  <a:cubicBezTo>
                    <a:pt x="0" y="62992"/>
                    <a:pt x="62992" y="0"/>
                    <a:pt x="140589" y="0"/>
                  </a:cubicBezTo>
                  <a:lnTo>
                    <a:pt x="3806571" y="0"/>
                  </a:lnTo>
                  <a:cubicBezTo>
                    <a:pt x="3884168" y="0"/>
                    <a:pt x="3947160" y="62992"/>
                    <a:pt x="3947160" y="140589"/>
                  </a:cubicBezTo>
                  <a:lnTo>
                    <a:pt x="3947160" y="5132451"/>
                  </a:lnTo>
                  <a:cubicBezTo>
                    <a:pt x="3947160" y="5210048"/>
                    <a:pt x="3884168" y="5273040"/>
                    <a:pt x="3806571" y="5273040"/>
                  </a:cubicBezTo>
                  <a:lnTo>
                    <a:pt x="140589" y="5273040"/>
                  </a:lnTo>
                  <a:cubicBezTo>
                    <a:pt x="62992" y="5273040"/>
                    <a:pt x="0" y="5210048"/>
                    <a:pt x="0" y="5132451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1401" t="0" r="-121401" b="0"/>
              </a:stretch>
            </a:blipFill>
            <a:ln w="19050" cap="sq">
              <a:solidFill>
                <a:srgbClr val="C9C1AE"/>
              </a:solidFill>
              <a:prstDash val="dash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3947160" cy="532066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196"/>
                </a:lnSpc>
                <a:spcAft>
                  <a:spcPts val="200"/>
                </a:spcAft>
              </a:pPr>
              <a:r>
                <a:rPr b="1" lang="en-US" sz="1800">
                  <a:solidFill>
                    <a:srgbClr val="00482B"/>
                  </a:solidFill>
                  <a:latin typeface="Helvetica"/>
                  <a:ea typeface="Helvetica"/>
                  <a:cs typeface="Helvetica"/>
                  <a:sym typeface="Helvetica"/>
                </a:rPr>
                <a:t>Jostein:</a:t>
              </a:r>
              <a:r>
                <a:rPr lang="en-US" sz="180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 xml:space="preserve"> introducción, problema, justificación, objetivos y marco teórico.</a:t>
              </a:r>
            </a:p>
            <a:p>
              <a:pPr algn="l">
                <a:lnSpc>
                  <a:spcPts val="2196"/>
                </a:lnSpc>
                <a:spcAft>
                  <a:spcPts val="200"/>
                </a:spcAft>
              </a:pPr>
              <a:r>
                <a:rPr b="1" lang="en-US" sz="1800">
                  <a:solidFill>
                    <a:srgbClr val="00482B"/>
                  </a:solidFill>
                  <a:latin typeface="Helvetica"/>
                  <a:ea typeface="Helvetica"/>
                  <a:cs typeface="Helvetica"/>
                  <a:sym typeface="Helvetica"/>
                </a:rPr>
                <a:t>Andrés:</a:t>
              </a:r>
              <a:r>
                <a:rPr lang="en-US" sz="180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 xml:space="preserve"> producto (demo), impacto tecnológico y gestión del conocimiento.</a:t>
              </a:r>
            </a:p>
            <a:p>
              <a:pPr algn="l">
                <a:lnSpc>
                  <a:spcPts val="2196"/>
                </a:lnSpc>
                <a:spcAft>
                  <a:spcPts val="200"/>
                </a:spcAft>
              </a:pPr>
              <a:r>
                <a:rPr b="1" lang="en-US" sz="1800">
                  <a:solidFill>
                    <a:srgbClr val="00482B"/>
                  </a:solidFill>
                  <a:latin typeface="Helvetica"/>
                  <a:ea typeface="Helvetica"/>
                  <a:cs typeface="Helvetica"/>
                  <a:sym typeface="Helvetica"/>
                </a:rPr>
                <a:t>Ambos:</a:t>
              </a:r>
              <a:r>
                <a:rPr lang="en-US" sz="180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 xml:space="preserve"> conclusiones y preguntas.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304020" y="2967990"/>
            <a:ext cx="3737610" cy="5795010"/>
            <a:chOff x="0" y="0"/>
            <a:chExt cx="4983480" cy="77266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983480" cy="7726680"/>
            </a:xfrm>
            <a:custGeom>
              <a:avLst/>
              <a:gdLst/>
              <a:ahLst/>
              <a:cxnLst/>
              <a:rect r="r" b="b" t="t" l="l"/>
              <a:pathLst>
                <a:path h="7726680" w="4983480">
                  <a:moveTo>
                    <a:pt x="0" y="197358"/>
                  </a:moveTo>
                  <a:cubicBezTo>
                    <a:pt x="0" y="88392"/>
                    <a:pt x="88392" y="0"/>
                    <a:pt x="197358" y="0"/>
                  </a:cubicBezTo>
                  <a:lnTo>
                    <a:pt x="4786122" y="0"/>
                  </a:lnTo>
                  <a:cubicBezTo>
                    <a:pt x="4895088" y="0"/>
                    <a:pt x="4983480" y="88392"/>
                    <a:pt x="4983480" y="197358"/>
                  </a:cubicBezTo>
                  <a:lnTo>
                    <a:pt x="4983480" y="7529322"/>
                  </a:lnTo>
                  <a:cubicBezTo>
                    <a:pt x="4983480" y="7638288"/>
                    <a:pt x="4895088" y="7726680"/>
                    <a:pt x="4786122" y="7726680"/>
                  </a:cubicBezTo>
                  <a:lnTo>
                    <a:pt x="197358" y="7726680"/>
                  </a:lnTo>
                  <a:cubicBezTo>
                    <a:pt x="88392" y="7726680"/>
                    <a:pt x="0" y="7638288"/>
                    <a:pt x="0" y="7529322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DDD6C8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9692640" y="3308985"/>
            <a:ext cx="3049181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>
                <a:solidFill>
                  <a:srgbClr val="00482B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7.3 · Valor 1.0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92640" y="3827145"/>
            <a:ext cx="3049181" cy="88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DAAA00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Presentación de diapositivas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692640" y="4831080"/>
            <a:ext cx="2960370" cy="3543300"/>
            <a:chOff x="0" y="0"/>
            <a:chExt cx="3947160" cy="4724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947160" cy="4724400"/>
            </a:xfrm>
            <a:custGeom>
              <a:avLst/>
              <a:gdLst/>
              <a:ahLst/>
              <a:cxnLst/>
              <a:rect r="r" b="b" t="t" l="l"/>
              <a:pathLst>
                <a:path h="4724400" w="3947160">
                  <a:moveTo>
                    <a:pt x="0" y="140589"/>
                  </a:moveTo>
                  <a:cubicBezTo>
                    <a:pt x="0" y="62992"/>
                    <a:pt x="62992" y="0"/>
                    <a:pt x="140589" y="0"/>
                  </a:cubicBezTo>
                  <a:lnTo>
                    <a:pt x="3806571" y="0"/>
                  </a:lnTo>
                  <a:cubicBezTo>
                    <a:pt x="3884168" y="0"/>
                    <a:pt x="3947160" y="62992"/>
                    <a:pt x="3947160" y="140589"/>
                  </a:cubicBezTo>
                  <a:lnTo>
                    <a:pt x="3947160" y="4583811"/>
                  </a:lnTo>
                  <a:cubicBezTo>
                    <a:pt x="3947160" y="4661408"/>
                    <a:pt x="3884168" y="4724400"/>
                    <a:pt x="3806571" y="4724400"/>
                  </a:cubicBezTo>
                  <a:lnTo>
                    <a:pt x="140589" y="4724400"/>
                  </a:lnTo>
                  <a:cubicBezTo>
                    <a:pt x="62992" y="4724400"/>
                    <a:pt x="0" y="4661408"/>
                    <a:pt x="0" y="4583811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3567" t="0" r="-103567" b="0"/>
              </a:stretch>
            </a:blipFill>
            <a:ln w="19050" cap="sq">
              <a:solidFill>
                <a:srgbClr val="C9C1AE"/>
              </a:solidFill>
              <a:prstDash val="dash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3947160" cy="477202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196"/>
                </a:lnSpc>
                <a:spcAft>
                  <a:spcPts val="200"/>
                </a:spcAft>
              </a:pPr>
              <a:r>
                <a:rPr lang="en-US" sz="180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>Una diapositiva por aspecto.</a:t>
              </a:r>
            </a:p>
            <a:p>
              <a:pPr algn="l">
                <a:lnSpc>
                  <a:spcPts val="2196"/>
                </a:lnSpc>
                <a:spcAft>
                  <a:spcPts val="200"/>
                </a:spcAft>
              </a:pPr>
              <a:r>
                <a:rPr lang="en-US" sz="180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>El detalle va en la voz, no en la pantalla.</a:t>
              </a:r>
            </a:p>
            <a:p>
              <a:pPr algn="l">
                <a:lnSpc>
                  <a:spcPts val="2196"/>
                </a:lnSpc>
                <a:spcAft>
                  <a:spcPts val="200"/>
                </a:spcAft>
              </a:pPr>
              <a:r>
                <a:rPr lang="en-US" sz="1800">
                  <a:solidFill>
                    <a:srgbClr val="22303A"/>
                  </a:solidFill>
                  <a:latin typeface="Helvetica"/>
                  <a:ea typeface="Helvetica"/>
                  <a:cs typeface="Helvetica"/>
                  <a:sym typeface="Helvetica"/>
                </a:rPr>
                <a:t>Capturas de respaldo por si falla la demo.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346430" y="2967990"/>
            <a:ext cx="3722370" cy="5795010"/>
            <a:chOff x="0" y="0"/>
            <a:chExt cx="4963160" cy="77266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963160" cy="7726680"/>
            </a:xfrm>
            <a:custGeom>
              <a:avLst/>
              <a:gdLst/>
              <a:ahLst/>
              <a:cxnLst/>
              <a:rect r="r" b="b" t="t" l="l"/>
              <a:pathLst>
                <a:path h="7726680" w="496316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4759960" y="0"/>
                  </a:lnTo>
                  <a:cubicBezTo>
                    <a:pt x="4872228" y="0"/>
                    <a:pt x="4963160" y="90932"/>
                    <a:pt x="4963160" y="203200"/>
                  </a:cubicBezTo>
                  <a:lnTo>
                    <a:pt x="4963160" y="7523480"/>
                  </a:lnTo>
                  <a:cubicBezTo>
                    <a:pt x="4963160" y="7635749"/>
                    <a:pt x="4872228" y="7726680"/>
                    <a:pt x="4759960" y="7726680"/>
                  </a:cubicBezTo>
                  <a:lnTo>
                    <a:pt x="203200" y="7726680"/>
                  </a:lnTo>
                  <a:cubicBezTo>
                    <a:pt x="90932" y="7726680"/>
                    <a:pt x="0" y="7635749"/>
                    <a:pt x="0" y="7523480"/>
                  </a:cubicBezTo>
                  <a:close/>
                </a:path>
              </a:pathLst>
            </a:custGeom>
            <a:solidFill>
              <a:srgbClr val="00482B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3727430" y="3301365"/>
            <a:ext cx="3049181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b="true" sz="1950">
                <a:solidFill>
                  <a:srgbClr val="DAAA00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7.4 · Valor 2.0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727430" y="3819525"/>
            <a:ext cx="3049181" cy="88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5F2EA"/>
                </a:solidFill>
                <a:latin typeface="Helvetica Bold"/>
                <a:ea typeface="Helvetica Bold"/>
                <a:cs typeface="Helvetica Bold"/>
                <a:sym typeface="Helvetica Bold"/>
              </a:rPr>
              <a:t>Manejo verbal y corporal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3727430" y="4823460"/>
            <a:ext cx="2960370" cy="3558540"/>
            <a:chOff x="0" y="0"/>
            <a:chExt cx="3947160" cy="47447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47160" cy="4744720"/>
            </a:xfrm>
            <a:custGeom>
              <a:avLst/>
              <a:gdLst/>
              <a:ahLst/>
              <a:cxnLst/>
              <a:rect r="r" b="b" t="t" l="l"/>
              <a:pathLst>
                <a:path h="4744720" w="3947160">
                  <a:moveTo>
                    <a:pt x="0" y="140589"/>
                  </a:moveTo>
                  <a:cubicBezTo>
                    <a:pt x="0" y="62992"/>
                    <a:pt x="62992" y="0"/>
                    <a:pt x="140589" y="0"/>
                  </a:cubicBezTo>
                  <a:lnTo>
                    <a:pt x="3806571" y="0"/>
                  </a:lnTo>
                  <a:cubicBezTo>
                    <a:pt x="3884168" y="0"/>
                    <a:pt x="3947160" y="62992"/>
                    <a:pt x="3947160" y="140589"/>
                  </a:cubicBezTo>
                  <a:lnTo>
                    <a:pt x="3947160" y="4604131"/>
                  </a:lnTo>
                  <a:cubicBezTo>
                    <a:pt x="3947160" y="4681728"/>
                    <a:pt x="3884168" y="4744720"/>
                    <a:pt x="3806571" y="4744720"/>
                  </a:cubicBezTo>
                  <a:lnTo>
                    <a:pt x="140589" y="4744720"/>
                  </a:lnTo>
                  <a:cubicBezTo>
                    <a:pt x="62992" y="4744720"/>
                    <a:pt x="0" y="4681728"/>
                    <a:pt x="0" y="4604131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4228" t="0" r="-104228" b="0"/>
              </a:stretch>
            </a:blipFill>
            <a:ln w="19050" cap="sq">
              <a:solidFill>
                <a:srgbClr val="E9A36F"/>
              </a:solidFill>
              <a:prstDash val="dash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3947160" cy="479234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196"/>
                </a:lnSpc>
                <a:spcAft>
                  <a:spcPts val="200"/>
                </a:spcAft>
              </a:pPr>
              <a:r>
                <a:rPr lang="en-US" sz="1800">
                  <a:solidFill>
                    <a:srgbClr val="D8D4C8"/>
                  </a:solidFill>
                  <a:latin typeface="Helvetica"/>
                  <a:ea typeface="Helvetica"/>
                  <a:cs typeface="Helvetica"/>
                  <a:sym typeface="Helvetica"/>
                </a:rPr>
                <a:t>Ensayar 2 veces con cronómetro (≈ 12 min).</a:t>
              </a:r>
            </a:p>
            <a:p>
              <a:pPr algn="l">
                <a:lnSpc>
                  <a:spcPts val="2196"/>
                </a:lnSpc>
                <a:spcAft>
                  <a:spcPts val="200"/>
                </a:spcAft>
              </a:pPr>
              <a:r>
                <a:rPr lang="en-US" sz="1800">
                  <a:solidFill>
                    <a:srgbClr val="D8D4C8"/>
                  </a:solidFill>
                  <a:latin typeface="Helvetica"/>
                  <a:ea typeface="Helvetica"/>
                  <a:cs typeface="Helvetica"/>
                  <a:sym typeface="Helvetica"/>
                </a:rPr>
                <a:t>Hablar despacio y mirar al jurado.</a:t>
              </a:r>
            </a:p>
            <a:p>
              <a:pPr algn="l">
                <a:lnSpc>
                  <a:spcPts val="2196"/>
                </a:lnSpc>
                <a:spcAft>
                  <a:spcPts val="200"/>
                </a:spcAft>
              </a:pPr>
              <a:r>
                <a:rPr lang="en-US" sz="1800">
                  <a:solidFill>
                    <a:srgbClr val="D8D4C8"/>
                  </a:solidFill>
                  <a:latin typeface="Helvetica"/>
                  <a:ea typeface="Helvetica"/>
                  <a:cs typeface="Helvetica"/>
                  <a:sym typeface="Helvetica"/>
                </a:rPr>
                <a:t>Usar ejemplos cotidianos.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219200" y="9290685"/>
            <a:ext cx="1177290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6A7179"/>
                </a:solidFill>
                <a:latin typeface="Helvetica"/>
                <a:ea typeface="Helvetica"/>
                <a:cs typeface="Helvetica"/>
                <a:sym typeface="Helvetica"/>
              </a:rPr>
              <a:t>Sustentación · Gestión del Conocimiento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DAHX6PgGW9M</dc:identifier>
  <dcterms:modified xsi:type="dcterms:W3CDTF">2011-08-01T06:04:30Z</dcterms:modified>
  <cp:revision>1</cp:revision>
  <dc:title>Plantilla de sustentación – Proyectos de Gestión del Conocimiento.pptx</dc:title>
</cp:coreProperties>
</file>